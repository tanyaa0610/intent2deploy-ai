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Intent2Deploy AI takes a developer's request in plain English and turns it into a working change: it reads the repository, plans, writes the code, tests it in a sandbox and like production, and delivers it through GitHub — staging first, then main. A person approves the plan, the code, the commit and every merge.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jobs. Understand: RAG indexing, architecture and risk analysis. Build and prove: planning, code generation, sandbox validation and six live production checks. Deliver: a feature branch and pull request into staging, a zero-downtime staging release, and a release pull request into main. Empty repositories get a whole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to bottom: the browser only talks to the FastAPI backend. The orchestrator drives the workflow and calls four service groups. Those use SQLite for workflow state and the audit trail, ChromaDB for code vectors, the LLM (Claude live, or a deterministic mock), GitHub for pull requests and Actions, and the staging site behind a traffic router with a hot standby.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row by row. Row 1 understands the request and the repository. Row 2 plans, gets the plan approved, generates code and has the diffs approved, then adds tests and runs resilience and chaos experiments. Row 3 validates in a sandbox and against the running app; a failure loops through AI repair and back. Readiness decides whether it can ship and a person approves the commit; CI runs on GitHub; a person approves the merge; the final report is written once the work is delivered.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can be edited or rejected; every code change is shown as a diff and can be rejected to regenerate; the commit waits for validation and the readiness decision; every merge needs green checks plus an explicit approval. A failed workflow can be resumed from where it stopped.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first checks the code in an isolated sandbox. Then it boots the app the way it ships and tests it over HTTP: boot, smoke, an API contract generated from the OpenAPI schema, hostile input, a 300-request load test with a 1-second p95 budget, and restart. Any failure fails validation and blocks the release.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row: the approved commit goes on a feature branch cut from the latest staging; a pull request into staging runs CI; the merge needs green checks plus your approval. Bottom row: after the merge, the new version starts beside the live one and must pass the live production checks. If it passes, traffic switches with no downtime and a hot standby is ready; you check staging and the release pull request takes it to main. If it fails, it is never switched to: the old version keeps serving and an alert is raised.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staging site sits behind a traffic router on a stable port. Releases are blue-green; a hot standby takes over on the next request after a crash; a watchdog health-checks every 10 seconds and heals in order: standby, rollback to the previous release (kept warm for 15 minutes), restart. Alerts are stored, de-duplicated, shown in the UI and can be posted to a webhook.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ci.yml lints, runs the security scan and the tests. docker.yml builds the image, runs it, waits for its health check, runs the shipped production-check script against the container, restarts it to check recovery and prints the logs. The merge gate refuses a merge while any check is failing or still running.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connected repository has no source code, Intent2Deploy designs and generates the project from a tested template. Built-in add-ons upgrade code already on staging without an AI model. With LLM_MODE=live and an API key, the model writes any other change.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reports start from the staging panel of the original workflow. Screenshots are checked by their bytes and stored outside the code. Intent2Deploy first checks the code on staging; if the request is already met, or mock mode would produce the same files, it says so instead of creating a workflow that can only fail.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283 backend tests pass across 39 test files; the frontend type-checks cleanly. The guardrail engine covers eight categories: input, AI/LLM, output, security, CI/CD, infrastructure, deployment and cost.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Box 1"/>
          <p:cNvSpPr txBox="1"/>
          <p:nvPr/>
        </p:nvSpPr>
        <p:spPr>
          <a:xfrm>
            <a:off x="822960" y="1417320"/>
            <a:ext cx="10058400" cy="365760"/>
          </a:xfrm>
          <a:prstGeom prst="rect">
            <a:avLst/>
          </a:prstGeom>
          <a:noFill/>
        </p:spPr>
        <p:txBody>
          <a:bodyPr wrap="square" anchor="t" lIns="0" rIns="0" tIns="0" bIns="0">
            <a:spAutoFit/>
          </a:bodyPr>
          <a:lstStyle/>
          <a:p>
            <a:pPr algn="l"/>
            <a:r>
              <a:rPr sz="1600" b="1">
                <a:solidFill>
                  <a:srgbClr val="E07A2E"/>
                </a:solidFill>
                <a:latin typeface="Calibri"/>
              </a:rPr>
              <a:t>AI-DEVOPS PLATFORM</a:t>
            </a:r>
          </a:p>
        </p:txBody>
      </p:sp>
      <p:sp>
        <p:nvSpPr>
          <p:cNvPr id="3" name="TextBox 2"/>
          <p:cNvSpPr txBox="1"/>
          <p:nvPr/>
        </p:nvSpPr>
        <p:spPr>
          <a:xfrm>
            <a:off x="822960" y="1874519"/>
            <a:ext cx="10515600" cy="1188720"/>
          </a:xfrm>
          <a:prstGeom prst="rect">
            <a:avLst/>
          </a:prstGeom>
          <a:noFill/>
        </p:spPr>
        <p:txBody>
          <a:bodyPr wrap="square" anchor="t" lIns="0" rIns="0" tIns="0" bIns="0">
            <a:spAutoFit/>
          </a:bodyPr>
          <a:lstStyle/>
          <a:p>
            <a:pPr algn="l"/>
            <a:r>
              <a:rPr sz="6600" b="1">
                <a:solidFill>
                  <a:srgbClr val="F4F1EA"/>
                </a:solidFill>
                <a:latin typeface="Cambria"/>
              </a:rPr>
              <a:t>Intent2Deploy AI</a:t>
            </a:r>
          </a:p>
        </p:txBody>
      </p:sp>
      <p:sp>
        <p:nvSpPr>
          <p:cNvPr id="4" name="TextBox 3"/>
          <p:cNvSpPr txBox="1"/>
          <p:nvPr/>
        </p:nvSpPr>
        <p:spPr>
          <a:xfrm>
            <a:off x="822960" y="3200400"/>
            <a:ext cx="9875520" cy="1188720"/>
          </a:xfrm>
          <a:prstGeom prst="rect">
            <a:avLst/>
          </a:prstGeom>
          <a:noFill/>
        </p:spPr>
        <p:txBody>
          <a:bodyPr wrap="square" anchor="t" lIns="0" rIns="0" tIns="0" bIns="0">
            <a:spAutoFit/>
          </a:bodyPr>
          <a:lstStyle/>
          <a:p>
            <a:pPr algn="l"/>
            <a:r>
              <a:rPr sz="2200" b="0">
                <a:solidFill>
                  <a:srgbClr val="C9D4E3"/>
                </a:solidFill>
                <a:latin typeface="Calibri"/>
              </a:rPr>
              <a:t>From a plain-English change request to reviewed, tested, containerized code on GitHub — with a person approving every risky step.</a:t>
            </a:r>
          </a:p>
        </p:txBody>
      </p:sp>
      <p:sp>
        <p:nvSpPr>
          <p:cNvPr id="5" name="Rounded Rectangle 4"/>
          <p:cNvSpPr/>
          <p:nvPr/>
        </p:nvSpPr>
        <p:spPr>
          <a:xfrm>
            <a:off x="822960" y="4663440"/>
            <a:ext cx="5669280" cy="502920"/>
          </a:xfrm>
          <a:prstGeom prst="roundRect">
            <a:avLst>
              <a:gd name="adj" fmla="val 8000"/>
            </a:avLst>
          </a:prstGeom>
          <a:solidFill>
            <a:srgbClr val="E07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1B2D"/>
                </a:solidFill>
                <a:latin typeface="Calibri"/>
              </a:rPr>
              <a:t>FastAPI · React · RAG · Docker · GitHub Actions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0972800" cy="320040"/>
          </a:xfrm>
          <a:prstGeom prst="rect">
            <a:avLst/>
          </a:prstGeom>
          <a:noFill/>
        </p:spPr>
        <p:txBody>
          <a:bodyPr wrap="square" anchor="t" lIns="0" rIns="0" tIns="0" bIns="0">
            <a:spAutoFit/>
          </a:bodyPr>
          <a:lstStyle/>
          <a:p>
            <a:pPr algn="l"/>
            <a:r>
              <a:rPr sz="1300" b="1">
                <a:solidFill>
                  <a:srgbClr val="B4541A"/>
                </a:solidFill>
                <a:latin typeface="Calibri"/>
              </a:rPr>
              <a:t>WHAT IT DOES</a:t>
            </a:r>
          </a:p>
        </p:txBody>
      </p:sp>
      <p:sp>
        <p:nvSpPr>
          <p:cNvPr id="3" name="TextBox 2"/>
          <p:cNvSpPr txBox="1"/>
          <p:nvPr/>
        </p:nvSpPr>
        <p:spPr>
          <a:xfrm>
            <a:off x="548640" y="850392"/>
            <a:ext cx="11064240" cy="822960"/>
          </a:xfrm>
          <a:prstGeom prst="rect">
            <a:avLst/>
          </a:prstGeom>
          <a:noFill/>
        </p:spPr>
        <p:txBody>
          <a:bodyPr wrap="square" anchor="t" lIns="0" rIns="0" tIns="0" bIns="0">
            <a:spAutoFit/>
          </a:bodyPr>
          <a:lstStyle/>
          <a:p>
            <a:pPr algn="l"/>
            <a:r>
              <a:rPr sz="3200" b="1">
                <a:solidFill>
                  <a:srgbClr val="0F1B2D"/>
                </a:solidFill>
                <a:latin typeface="Cambria"/>
              </a:rPr>
              <a:t>From a plain-English request to tested code on GitHub</a:t>
            </a:r>
          </a:p>
        </p:txBody>
      </p:sp>
      <p:sp>
        <p:nvSpPr>
          <p:cNvPr id="4" name="Rounded Rectangle 3"/>
          <p:cNvSpPr/>
          <p:nvPr/>
        </p:nvSpPr>
        <p:spPr>
          <a:xfrm>
            <a:off x="548640" y="2011680"/>
            <a:ext cx="3566160" cy="25146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2240280"/>
            <a:ext cx="2926080" cy="365760"/>
          </a:xfrm>
          <a:prstGeom prst="rect">
            <a:avLst/>
          </a:prstGeom>
          <a:noFill/>
        </p:spPr>
        <p:txBody>
          <a:bodyPr wrap="square" anchor="t" lIns="0" rIns="0" tIns="0" bIns="0">
            <a:spAutoFit/>
          </a:bodyPr>
          <a:lstStyle/>
          <a:p>
            <a:pPr algn="l"/>
            <a:r>
              <a:rPr sz="1800" b="1">
                <a:solidFill>
                  <a:srgbClr val="B4541A"/>
                </a:solidFill>
                <a:latin typeface="Calibri"/>
              </a:rPr>
              <a:t>01</a:t>
            </a:r>
          </a:p>
        </p:txBody>
      </p:sp>
      <p:sp>
        <p:nvSpPr>
          <p:cNvPr id="6" name="TextBox 5"/>
          <p:cNvSpPr txBox="1"/>
          <p:nvPr/>
        </p:nvSpPr>
        <p:spPr>
          <a:xfrm>
            <a:off x="868680" y="2651760"/>
            <a:ext cx="2926080" cy="457200"/>
          </a:xfrm>
          <a:prstGeom prst="rect">
            <a:avLst/>
          </a:prstGeom>
          <a:noFill/>
        </p:spPr>
        <p:txBody>
          <a:bodyPr wrap="square" anchor="t" lIns="0" rIns="0" tIns="0" bIns="0">
            <a:spAutoFit/>
          </a:bodyPr>
          <a:lstStyle/>
          <a:p>
            <a:pPr algn="l"/>
            <a:r>
              <a:rPr sz="2200" b="1">
                <a:solidFill>
                  <a:srgbClr val="0F1B2D"/>
                </a:solidFill>
                <a:latin typeface="Cambria"/>
              </a:rPr>
              <a:t>Understands the code</a:t>
            </a:r>
          </a:p>
        </p:txBody>
      </p:sp>
      <p:sp>
        <p:nvSpPr>
          <p:cNvPr id="7" name="TextBox 6"/>
          <p:cNvSpPr txBox="1"/>
          <p:nvPr/>
        </p:nvSpPr>
        <p:spPr>
          <a:xfrm>
            <a:off x="868680" y="3200400"/>
            <a:ext cx="2926080" cy="1280160"/>
          </a:xfrm>
          <a:prstGeom prst="rect">
            <a:avLst/>
          </a:prstGeom>
          <a:noFill/>
        </p:spPr>
        <p:txBody>
          <a:bodyPr wrap="square" anchor="t" lIns="0" rIns="0" tIns="0" bIns="0">
            <a:spAutoFit/>
          </a:bodyPr>
          <a:lstStyle/>
          <a:p>
            <a:pPr algn="l"/>
            <a:r>
              <a:rPr sz="1600" b="0">
                <a:solidFill>
                  <a:srgbClr val="4A5568"/>
                </a:solidFill>
                <a:latin typeface="Calibri"/>
              </a:rPr>
              <a:t>Indexes the repository, finds the code that matters and maps its architecture and risks.</a:t>
            </a:r>
          </a:p>
        </p:txBody>
      </p:sp>
      <p:sp>
        <p:nvSpPr>
          <p:cNvPr id="8" name="Rounded Rectangle 7"/>
          <p:cNvSpPr/>
          <p:nvPr/>
        </p:nvSpPr>
        <p:spPr>
          <a:xfrm>
            <a:off x="4297679" y="2011680"/>
            <a:ext cx="3566160" cy="25146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17719" y="2240280"/>
            <a:ext cx="2926080" cy="365760"/>
          </a:xfrm>
          <a:prstGeom prst="rect">
            <a:avLst/>
          </a:prstGeom>
          <a:noFill/>
        </p:spPr>
        <p:txBody>
          <a:bodyPr wrap="square" anchor="t" lIns="0" rIns="0" tIns="0" bIns="0">
            <a:spAutoFit/>
          </a:bodyPr>
          <a:lstStyle/>
          <a:p>
            <a:pPr algn="l"/>
            <a:r>
              <a:rPr sz="1800" b="1">
                <a:solidFill>
                  <a:srgbClr val="B4541A"/>
                </a:solidFill>
                <a:latin typeface="Calibri"/>
              </a:rPr>
              <a:t>02</a:t>
            </a:r>
          </a:p>
        </p:txBody>
      </p:sp>
      <p:sp>
        <p:nvSpPr>
          <p:cNvPr id="10" name="TextBox 9"/>
          <p:cNvSpPr txBox="1"/>
          <p:nvPr/>
        </p:nvSpPr>
        <p:spPr>
          <a:xfrm>
            <a:off x="4617719" y="2651760"/>
            <a:ext cx="2926080" cy="457200"/>
          </a:xfrm>
          <a:prstGeom prst="rect">
            <a:avLst/>
          </a:prstGeom>
          <a:noFill/>
        </p:spPr>
        <p:txBody>
          <a:bodyPr wrap="square" anchor="t" lIns="0" rIns="0" tIns="0" bIns="0">
            <a:spAutoFit/>
          </a:bodyPr>
          <a:lstStyle/>
          <a:p>
            <a:pPr algn="l"/>
            <a:r>
              <a:rPr sz="2200" b="1">
                <a:solidFill>
                  <a:srgbClr val="0F1B2D"/>
                </a:solidFill>
                <a:latin typeface="Cambria"/>
              </a:rPr>
              <a:t>Builds and proves it</a:t>
            </a:r>
          </a:p>
        </p:txBody>
      </p:sp>
      <p:sp>
        <p:nvSpPr>
          <p:cNvPr id="11" name="TextBox 10"/>
          <p:cNvSpPr txBox="1"/>
          <p:nvPr/>
        </p:nvSpPr>
        <p:spPr>
          <a:xfrm>
            <a:off x="4617719" y="3200400"/>
            <a:ext cx="2926080" cy="1280160"/>
          </a:xfrm>
          <a:prstGeom prst="rect">
            <a:avLst/>
          </a:prstGeom>
          <a:noFill/>
        </p:spPr>
        <p:txBody>
          <a:bodyPr wrap="square" anchor="t" lIns="0" rIns="0" tIns="0" bIns="0">
            <a:spAutoFit/>
          </a:bodyPr>
          <a:lstStyle/>
          <a:p>
            <a:pPr algn="l"/>
            <a:r>
              <a:rPr sz="1600" b="0">
                <a:solidFill>
                  <a:srgbClr val="4A5568"/>
                </a:solidFill>
                <a:latin typeface="Calibri"/>
              </a:rPr>
              <a:t>Plans the change, writes it as diffs, then tests it in a sandbox and against the running app.</a:t>
            </a:r>
          </a:p>
        </p:txBody>
      </p:sp>
      <p:sp>
        <p:nvSpPr>
          <p:cNvPr id="12" name="Rounded Rectangle 11"/>
          <p:cNvSpPr/>
          <p:nvPr/>
        </p:nvSpPr>
        <p:spPr>
          <a:xfrm>
            <a:off x="8046719" y="2011680"/>
            <a:ext cx="3566160" cy="25146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6759" y="2240280"/>
            <a:ext cx="2926080" cy="365760"/>
          </a:xfrm>
          <a:prstGeom prst="rect">
            <a:avLst/>
          </a:prstGeom>
          <a:noFill/>
        </p:spPr>
        <p:txBody>
          <a:bodyPr wrap="square" anchor="t" lIns="0" rIns="0" tIns="0" bIns="0">
            <a:spAutoFit/>
          </a:bodyPr>
          <a:lstStyle/>
          <a:p>
            <a:pPr algn="l"/>
            <a:r>
              <a:rPr sz="1800" b="1">
                <a:solidFill>
                  <a:srgbClr val="B4541A"/>
                </a:solidFill>
                <a:latin typeface="Calibri"/>
              </a:rPr>
              <a:t>03</a:t>
            </a:r>
          </a:p>
        </p:txBody>
      </p:sp>
      <p:sp>
        <p:nvSpPr>
          <p:cNvPr id="14" name="TextBox 13"/>
          <p:cNvSpPr txBox="1"/>
          <p:nvPr/>
        </p:nvSpPr>
        <p:spPr>
          <a:xfrm>
            <a:off x="8366759" y="2651760"/>
            <a:ext cx="2926080" cy="457200"/>
          </a:xfrm>
          <a:prstGeom prst="rect">
            <a:avLst/>
          </a:prstGeom>
          <a:noFill/>
        </p:spPr>
        <p:txBody>
          <a:bodyPr wrap="square" anchor="t" lIns="0" rIns="0" tIns="0" bIns="0">
            <a:spAutoFit/>
          </a:bodyPr>
          <a:lstStyle/>
          <a:p>
            <a:pPr algn="l"/>
            <a:r>
              <a:rPr sz="2200" b="1">
                <a:solidFill>
                  <a:srgbClr val="0F1B2D"/>
                </a:solidFill>
                <a:latin typeface="Cambria"/>
              </a:rPr>
              <a:t>Delivers it safely</a:t>
            </a:r>
          </a:p>
        </p:txBody>
      </p:sp>
      <p:sp>
        <p:nvSpPr>
          <p:cNvPr id="15" name="TextBox 14"/>
          <p:cNvSpPr txBox="1"/>
          <p:nvPr/>
        </p:nvSpPr>
        <p:spPr>
          <a:xfrm>
            <a:off x="8366759" y="3200400"/>
            <a:ext cx="2926080" cy="1280160"/>
          </a:xfrm>
          <a:prstGeom prst="rect">
            <a:avLst/>
          </a:prstGeom>
          <a:noFill/>
        </p:spPr>
        <p:txBody>
          <a:bodyPr wrap="square" anchor="t" lIns="0" rIns="0" tIns="0" bIns="0">
            <a:spAutoFit/>
          </a:bodyPr>
          <a:lstStyle/>
          <a:p>
            <a:pPr algn="l"/>
            <a:r>
              <a:rPr sz="1600" b="0">
                <a:solidFill>
                  <a:srgbClr val="4A5568"/>
                </a:solidFill>
                <a:latin typeface="Calibri"/>
              </a:rPr>
              <a:t>Pull request into staging, zero-downtime release, then main — only after checks and your approval.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64240" cy="822960"/>
          </a:xfrm>
          <a:prstGeom prst="rect">
            <a:avLst/>
          </a:prstGeom>
          <a:noFill/>
        </p:spPr>
        <p:txBody>
          <a:bodyPr wrap="square" anchor="t" lIns="0" rIns="0" tIns="0" bIns="0">
            <a:spAutoFit/>
          </a:bodyPr>
          <a:lstStyle/>
          <a:p>
            <a:pPr algn="l"/>
            <a:r>
              <a:rPr sz="3200" b="1">
                <a:solidFill>
                  <a:srgbClr val="0F1B2D"/>
                </a:solidFill>
                <a:latin typeface="Cambria"/>
              </a:rPr>
              <a:t>One orchestrator connects everything</a:t>
            </a:r>
          </a:p>
        </p:txBody>
      </p:sp>
      <p:sp>
        <p:nvSpPr>
          <p:cNvPr id="3" name="Rounded Rectangle 2"/>
          <p:cNvSpPr/>
          <p:nvPr/>
        </p:nvSpPr>
        <p:spPr>
          <a:xfrm>
            <a:off x="548640" y="1417320"/>
            <a:ext cx="11091672" cy="64008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a:solidFill>
                  <a:srgbClr val="0F1B2D"/>
                </a:solidFill>
                <a:latin typeface="Calibri"/>
              </a:rPr>
              <a:t>React frontend   ·   Dashboard · New workflow · Workflow detail · Repositories · Monitoring &amp; alerts</a:t>
            </a:r>
          </a:p>
        </p:txBody>
      </p:sp>
      <p:sp>
        <p:nvSpPr>
          <p:cNvPr id="4" name="Rounded Rectangle 3"/>
          <p:cNvSpPr/>
          <p:nvPr/>
        </p:nvSpPr>
        <p:spPr>
          <a:xfrm>
            <a:off x="548640" y="2286000"/>
            <a:ext cx="11091672" cy="640080"/>
          </a:xfrm>
          <a:prstGeom prst="roundRect">
            <a:avLst>
              <a:gd name="adj" fmla="val 8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a:solidFill>
                  <a:srgbClr val="F4F1EA"/>
                </a:solidFill>
                <a:latin typeface="Calibri"/>
              </a:rPr>
              <a:t>FastAPI + orchestrator   ·   11 routers · 18-stage state machine · human approvals · audit trail</a:t>
            </a:r>
          </a:p>
        </p:txBody>
      </p:sp>
      <p:cxnSp>
        <p:nvCxnSpPr>
          <p:cNvPr id="5" name="Connector 4"/>
          <p:cNvCxnSpPr/>
          <p:nvPr/>
        </p:nvCxnSpPr>
        <p:spPr>
          <a:xfrm>
            <a:off x="6099048" y="2057400"/>
            <a:ext cx="0" cy="22860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48640" y="3246120"/>
            <a:ext cx="2642616" cy="128016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700" b="1">
                <a:solidFill>
                  <a:srgbClr val="B4541A"/>
                </a:solidFill>
                <a:latin typeface="Calibri"/>
              </a:rPr>
              <a:t>Understand</a:t>
            </a:r>
          </a:p>
          <a:p>
            <a:pPr algn="l"/>
            <a:r>
              <a:rPr sz="1400" b="0">
                <a:solidFill>
                  <a:srgbClr val="4A5568"/>
                </a:solidFill>
                <a:latin typeface="Calibri"/>
              </a:rPr>
              <a:t>RAG index + hybrid search</a:t>
            </a:r>
          </a:p>
          <a:p>
            <a:pPr algn="l"/>
            <a:r>
              <a:rPr sz="1400" b="0">
                <a:solidFill>
                  <a:srgbClr val="4A5568"/>
                </a:solidFill>
                <a:latin typeface="Calibri"/>
              </a:rPr>
              <a:t>Plan with the LLM</a:t>
            </a:r>
          </a:p>
          <a:p>
            <a:pPr algn="l"/>
            <a:r>
              <a:rPr sz="1400" b="0">
                <a:solidFill>
                  <a:srgbClr val="4A5568"/>
                </a:solidFill>
                <a:latin typeface="Calibri"/>
              </a:rPr>
              <a:t>Architecture + risks</a:t>
            </a:r>
          </a:p>
        </p:txBody>
      </p:sp>
      <p:cxnSp>
        <p:nvCxnSpPr>
          <p:cNvPr id="7" name="Connector 6"/>
          <p:cNvCxnSpPr/>
          <p:nvPr/>
        </p:nvCxnSpPr>
        <p:spPr>
          <a:xfrm>
            <a:off x="1869948" y="2926080"/>
            <a:ext cx="0" cy="32004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64992" y="3246120"/>
            <a:ext cx="2642616" cy="128016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700" b="1">
                <a:solidFill>
                  <a:srgbClr val="B4541A"/>
                </a:solidFill>
                <a:latin typeface="Calibri"/>
              </a:rPr>
              <a:t>Build</a:t>
            </a:r>
          </a:p>
          <a:p>
            <a:pPr algn="l"/>
            <a:r>
              <a:rPr sz="1400" b="0">
                <a:solidFill>
                  <a:srgbClr val="4A5568"/>
                </a:solidFill>
                <a:latin typeface="Calibri"/>
              </a:rPr>
              <a:t>Code changes as diffs</a:t>
            </a:r>
          </a:p>
          <a:p>
            <a:pPr algn="l"/>
            <a:r>
              <a:rPr sz="1400" b="0">
                <a:solidFill>
                  <a:srgbClr val="4A5568"/>
                </a:solidFill>
                <a:latin typeface="Calibri"/>
              </a:rPr>
              <a:t>App templates + add-ons</a:t>
            </a:r>
          </a:p>
          <a:p>
            <a:pPr algn="l"/>
            <a:r>
              <a:rPr sz="1400" b="0">
                <a:solidFill>
                  <a:srgbClr val="4A5568"/>
                </a:solidFill>
                <a:latin typeface="Calibri"/>
              </a:rPr>
              <a:t>Docker files + CI</a:t>
            </a:r>
          </a:p>
        </p:txBody>
      </p:sp>
      <p:cxnSp>
        <p:nvCxnSpPr>
          <p:cNvPr id="9" name="Connector 8"/>
          <p:cNvCxnSpPr/>
          <p:nvPr/>
        </p:nvCxnSpPr>
        <p:spPr>
          <a:xfrm>
            <a:off x="4686300" y="2926080"/>
            <a:ext cx="0" cy="32004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181344" y="3246120"/>
            <a:ext cx="2642616" cy="128016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700" b="1">
                <a:solidFill>
                  <a:srgbClr val="B4541A"/>
                </a:solidFill>
                <a:latin typeface="Calibri"/>
              </a:rPr>
              <a:t>Verify</a:t>
            </a:r>
          </a:p>
          <a:p>
            <a:pPr algn="l"/>
            <a:r>
              <a:rPr sz="1400" b="0">
                <a:solidFill>
                  <a:srgbClr val="4A5568"/>
                </a:solidFill>
                <a:latin typeface="Calibri"/>
              </a:rPr>
              <a:t>Sandbox lint + tests</a:t>
            </a:r>
          </a:p>
          <a:p>
            <a:pPr algn="l"/>
            <a:r>
              <a:rPr sz="1400" b="0">
                <a:solidFill>
                  <a:srgbClr val="4A5568"/>
                </a:solidFill>
                <a:latin typeface="Calibri"/>
              </a:rPr>
              <a:t>Live production checks</a:t>
            </a:r>
          </a:p>
          <a:p>
            <a:pPr algn="l"/>
            <a:r>
              <a:rPr sz="1400" b="0">
                <a:solidFill>
                  <a:srgbClr val="4A5568"/>
                </a:solidFill>
                <a:latin typeface="Calibri"/>
              </a:rPr>
              <a:t>Guardrails + readiness</a:t>
            </a:r>
          </a:p>
        </p:txBody>
      </p:sp>
      <p:cxnSp>
        <p:nvCxnSpPr>
          <p:cNvPr id="11" name="Connector 10"/>
          <p:cNvCxnSpPr/>
          <p:nvPr/>
        </p:nvCxnSpPr>
        <p:spPr>
          <a:xfrm>
            <a:off x="7502652" y="2926080"/>
            <a:ext cx="0" cy="32004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997696" y="3246120"/>
            <a:ext cx="2642616" cy="128016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700" b="1">
                <a:solidFill>
                  <a:srgbClr val="B4541A"/>
                </a:solidFill>
                <a:latin typeface="Calibri"/>
              </a:rPr>
              <a:t>Deliver</a:t>
            </a:r>
          </a:p>
          <a:p>
            <a:pPr algn="l"/>
            <a:r>
              <a:rPr sz="1400" b="0">
                <a:solidFill>
                  <a:srgbClr val="4A5568"/>
                </a:solidFill>
                <a:latin typeface="Calibri"/>
              </a:rPr>
              <a:t>Branch + pull request</a:t>
            </a:r>
          </a:p>
          <a:p>
            <a:pPr algn="l"/>
            <a:r>
              <a:rPr sz="1400" b="0">
                <a:solidFill>
                  <a:srgbClr val="4A5568"/>
                </a:solidFill>
                <a:latin typeface="Calibri"/>
              </a:rPr>
              <a:t>Zero-downtime staging</a:t>
            </a:r>
          </a:p>
          <a:p>
            <a:pPr algn="l"/>
            <a:r>
              <a:rPr sz="1400" b="0">
                <a:solidFill>
                  <a:srgbClr val="4A5568"/>
                </a:solidFill>
                <a:latin typeface="Calibri"/>
              </a:rPr>
              <a:t>Watchdog + alerts</a:t>
            </a:r>
          </a:p>
        </p:txBody>
      </p:sp>
      <p:cxnSp>
        <p:nvCxnSpPr>
          <p:cNvPr id="13" name="Connector 12"/>
          <p:cNvCxnSpPr/>
          <p:nvPr/>
        </p:nvCxnSpPr>
        <p:spPr>
          <a:xfrm>
            <a:off x="10319004" y="2926080"/>
            <a:ext cx="0" cy="32004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4937760"/>
            <a:ext cx="2103120" cy="8686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1B2D"/>
                </a:solidFill>
                <a:latin typeface="Calibri"/>
              </a:rPr>
              <a:t>SQLite</a:t>
            </a:r>
          </a:p>
          <a:p>
            <a:pPr algn="ctr"/>
            <a:r>
              <a:rPr sz="1300" b="0">
                <a:solidFill>
                  <a:srgbClr val="4A5568"/>
                </a:solidFill>
                <a:latin typeface="Calibri"/>
              </a:rPr>
              <a:t>workflows, audit</a:t>
            </a:r>
          </a:p>
        </p:txBody>
      </p:sp>
      <p:sp>
        <p:nvSpPr>
          <p:cNvPr id="15" name="Rounded Rectangle 14"/>
          <p:cNvSpPr/>
          <p:nvPr/>
        </p:nvSpPr>
        <p:spPr>
          <a:xfrm>
            <a:off x="2791663" y="4937760"/>
            <a:ext cx="2103120" cy="8686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1B2D"/>
                </a:solidFill>
                <a:latin typeface="Calibri"/>
              </a:rPr>
              <a:t>ChromaDB</a:t>
            </a:r>
          </a:p>
          <a:p>
            <a:pPr algn="ctr"/>
            <a:r>
              <a:rPr sz="1300" b="0">
                <a:solidFill>
                  <a:srgbClr val="4A5568"/>
                </a:solidFill>
                <a:latin typeface="Calibri"/>
              </a:rPr>
              <a:t>code vectors</a:t>
            </a:r>
          </a:p>
        </p:txBody>
      </p:sp>
      <p:sp>
        <p:nvSpPr>
          <p:cNvPr id="16" name="Rounded Rectangle 15"/>
          <p:cNvSpPr/>
          <p:nvPr/>
        </p:nvSpPr>
        <p:spPr>
          <a:xfrm>
            <a:off x="5034686" y="4937760"/>
            <a:ext cx="2103120" cy="8686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1B2D"/>
                </a:solidFill>
                <a:latin typeface="Calibri"/>
              </a:rPr>
              <a:t>LLM</a:t>
            </a:r>
          </a:p>
          <a:p>
            <a:pPr algn="ctr"/>
            <a:r>
              <a:rPr sz="1300" b="0">
                <a:solidFill>
                  <a:srgbClr val="4A5568"/>
                </a:solidFill>
                <a:latin typeface="Calibri"/>
              </a:rPr>
              <a:t>Claude or mock</a:t>
            </a:r>
          </a:p>
        </p:txBody>
      </p:sp>
      <p:sp>
        <p:nvSpPr>
          <p:cNvPr id="17" name="Rounded Rectangle 16"/>
          <p:cNvSpPr/>
          <p:nvPr/>
        </p:nvSpPr>
        <p:spPr>
          <a:xfrm>
            <a:off x="7277709" y="4937760"/>
            <a:ext cx="2103120" cy="8686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1B2D"/>
                </a:solidFill>
                <a:latin typeface="Calibri"/>
              </a:rPr>
              <a:t>GitHub</a:t>
            </a:r>
          </a:p>
          <a:p>
            <a:pPr algn="ctr"/>
            <a:r>
              <a:rPr sz="1300" b="0">
                <a:solidFill>
                  <a:srgbClr val="4A5568"/>
                </a:solidFill>
                <a:latin typeface="Calibri"/>
              </a:rPr>
              <a:t>PRs + Actions</a:t>
            </a:r>
          </a:p>
        </p:txBody>
      </p:sp>
      <p:sp>
        <p:nvSpPr>
          <p:cNvPr id="18" name="Rounded Rectangle 17"/>
          <p:cNvSpPr/>
          <p:nvPr/>
        </p:nvSpPr>
        <p:spPr>
          <a:xfrm>
            <a:off x="9520732" y="4937760"/>
            <a:ext cx="2103120" cy="8686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F1B2D"/>
                </a:solidFill>
                <a:latin typeface="Calibri"/>
              </a:rPr>
              <a:t>Staging site</a:t>
            </a:r>
          </a:p>
          <a:p>
            <a:pPr algn="ctr"/>
            <a:r>
              <a:rPr sz="1300" b="0">
                <a:solidFill>
                  <a:srgbClr val="4A5568"/>
                </a:solidFill>
                <a:latin typeface="Calibri"/>
              </a:rPr>
              <a:t>router + standby</a:t>
            </a:r>
          </a:p>
        </p:txBody>
      </p:sp>
      <p:cxnSp>
        <p:nvCxnSpPr>
          <p:cNvPr id="19" name="Connector 18"/>
          <p:cNvCxnSpPr/>
          <p:nvPr/>
        </p:nvCxnSpPr>
        <p:spPr>
          <a:xfrm>
            <a:off x="6099048" y="4526280"/>
            <a:ext cx="0" cy="41148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64240" cy="822960"/>
          </a:xfrm>
          <a:prstGeom prst="rect">
            <a:avLst/>
          </a:prstGeom>
          <a:noFill/>
        </p:spPr>
        <p:txBody>
          <a:bodyPr wrap="square" anchor="t" lIns="0" rIns="0" tIns="0" bIns="0">
            <a:spAutoFit/>
          </a:bodyPr>
          <a:lstStyle/>
          <a:p>
            <a:pPr algn="l"/>
            <a:r>
              <a:rPr sz="3200" b="1">
                <a:solidFill>
                  <a:srgbClr val="0F1B2D"/>
                </a:solidFill>
                <a:latin typeface="Cambria"/>
              </a:rPr>
              <a:t>The workflow: 18 stages, 4 human approvals</a:t>
            </a:r>
          </a:p>
        </p:txBody>
      </p:sp>
      <p:sp>
        <p:nvSpPr>
          <p:cNvPr id="3" name="Rounded Rectangle 2"/>
          <p:cNvSpPr/>
          <p:nvPr/>
        </p:nvSpPr>
        <p:spPr>
          <a:xfrm>
            <a:off x="9555480" y="566928"/>
            <a:ext cx="2084831" cy="384048"/>
          </a:xfrm>
          <a:prstGeom prst="roundRect">
            <a:avLst>
              <a:gd name="adj" fmla="val 8000"/>
            </a:avLst>
          </a:prstGeom>
          <a:solidFill>
            <a:srgbClr val="FDF1E6"/>
          </a:solidFill>
          <a:ln w="19050">
            <a:solidFill>
              <a:srgbClr val="E07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a:solidFill>
                  <a:srgbClr val="B4541A"/>
                </a:solidFill>
                <a:latin typeface="Calibri"/>
              </a:rPr>
              <a:t>★ a person approves</a:t>
            </a:r>
          </a:p>
        </p:txBody>
      </p:sp>
      <p:sp>
        <p:nvSpPr>
          <p:cNvPr id="4" name="Rounded Rectangle 3"/>
          <p:cNvSpPr/>
          <p:nvPr/>
        </p:nvSpPr>
        <p:spPr>
          <a:xfrm>
            <a:off x="548640" y="1417320"/>
            <a:ext cx="164592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01</a:t>
            </a:r>
          </a:p>
          <a:p>
            <a:pPr algn="l"/>
            <a:r>
              <a:rPr sz="1300" b="1">
                <a:solidFill>
                  <a:srgbClr val="0F1B2D"/>
                </a:solidFill>
                <a:latin typeface="Calibri"/>
              </a:rPr>
              <a:t>Developer intent</a:t>
            </a:r>
          </a:p>
        </p:txBody>
      </p:sp>
      <p:cxnSp>
        <p:nvCxnSpPr>
          <p:cNvPr id="5" name="Connector 4"/>
          <p:cNvCxnSpPr/>
          <p:nvPr/>
        </p:nvCxnSpPr>
        <p:spPr>
          <a:xfrm>
            <a:off x="2194560" y="1897380"/>
            <a:ext cx="279806"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474366" y="1417320"/>
            <a:ext cx="164592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02</a:t>
            </a:r>
          </a:p>
          <a:p>
            <a:pPr algn="l"/>
            <a:r>
              <a:rPr sz="1300" b="1">
                <a:solidFill>
                  <a:srgbClr val="0F1B2D"/>
                </a:solidFill>
                <a:latin typeface="Calibri"/>
              </a:rPr>
              <a:t>Intent understanding</a:t>
            </a:r>
          </a:p>
        </p:txBody>
      </p:sp>
      <p:cxnSp>
        <p:nvCxnSpPr>
          <p:cNvPr id="7" name="Connector 6"/>
          <p:cNvCxnSpPr/>
          <p:nvPr/>
        </p:nvCxnSpPr>
        <p:spPr>
          <a:xfrm>
            <a:off x="4120286" y="1897380"/>
            <a:ext cx="279806"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400092" y="1417320"/>
            <a:ext cx="164592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03</a:t>
            </a:r>
          </a:p>
          <a:p>
            <a:pPr algn="l"/>
            <a:r>
              <a:rPr sz="1300" b="1">
                <a:solidFill>
                  <a:srgbClr val="0F1B2D"/>
                </a:solidFill>
                <a:latin typeface="Calibri"/>
              </a:rPr>
              <a:t>Production context</a:t>
            </a:r>
          </a:p>
        </p:txBody>
      </p:sp>
      <p:cxnSp>
        <p:nvCxnSpPr>
          <p:cNvPr id="9" name="Connector 8"/>
          <p:cNvCxnSpPr/>
          <p:nvPr/>
        </p:nvCxnSpPr>
        <p:spPr>
          <a:xfrm>
            <a:off x="6046012" y="1897380"/>
            <a:ext cx="279807"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325819" y="1417320"/>
            <a:ext cx="164592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04</a:t>
            </a:r>
          </a:p>
          <a:p>
            <a:pPr algn="l"/>
            <a:r>
              <a:rPr sz="1300" b="1">
                <a:solidFill>
                  <a:srgbClr val="0F1B2D"/>
                </a:solidFill>
                <a:latin typeface="Calibri"/>
              </a:rPr>
              <a:t>Repository RAG</a:t>
            </a:r>
          </a:p>
        </p:txBody>
      </p:sp>
      <p:cxnSp>
        <p:nvCxnSpPr>
          <p:cNvPr id="11" name="Connector 10"/>
          <p:cNvCxnSpPr/>
          <p:nvPr/>
        </p:nvCxnSpPr>
        <p:spPr>
          <a:xfrm>
            <a:off x="7971739" y="1897380"/>
            <a:ext cx="279806"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251545" y="1417320"/>
            <a:ext cx="164592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05</a:t>
            </a:r>
          </a:p>
          <a:p>
            <a:pPr algn="l"/>
            <a:r>
              <a:rPr sz="1300" b="1">
                <a:solidFill>
                  <a:srgbClr val="0F1B2D"/>
                </a:solidFill>
                <a:latin typeface="Calibri"/>
              </a:rPr>
              <a:t>Architecture analysis</a:t>
            </a:r>
          </a:p>
        </p:txBody>
      </p:sp>
      <p:cxnSp>
        <p:nvCxnSpPr>
          <p:cNvPr id="13" name="Connector 12"/>
          <p:cNvCxnSpPr/>
          <p:nvPr/>
        </p:nvCxnSpPr>
        <p:spPr>
          <a:xfrm>
            <a:off x="9897465" y="1897380"/>
            <a:ext cx="279807"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177272" y="1417320"/>
            <a:ext cx="164592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06</a:t>
            </a:r>
          </a:p>
          <a:p>
            <a:pPr algn="l"/>
            <a:r>
              <a:rPr sz="1300" b="1">
                <a:solidFill>
                  <a:srgbClr val="0F1B2D"/>
                </a:solidFill>
                <a:latin typeface="Calibri"/>
              </a:rPr>
              <a:t>Risk analysis</a:t>
            </a:r>
          </a:p>
        </p:txBody>
      </p:sp>
      <p:cxnSp>
        <p:nvCxnSpPr>
          <p:cNvPr id="15" name="Connector 14"/>
          <p:cNvCxnSpPr/>
          <p:nvPr/>
        </p:nvCxnSpPr>
        <p:spPr>
          <a:xfrm>
            <a:off x="11000232" y="2377440"/>
            <a:ext cx="0" cy="297180"/>
          </a:xfrm>
          <a:prstGeom prst="line">
            <a:avLst/>
          </a:prstGeom>
          <a:ln w="19050">
            <a:solidFill>
              <a:srgbClr val="8A94A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371600" y="2674620"/>
            <a:ext cx="9628632" cy="0"/>
          </a:xfrm>
          <a:prstGeom prst="line">
            <a:avLst/>
          </a:prstGeom>
          <a:ln w="19050">
            <a:solidFill>
              <a:srgbClr val="8A94A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 y="2674620"/>
            <a:ext cx="0" cy="29718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2971800"/>
            <a:ext cx="164592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07</a:t>
            </a:r>
          </a:p>
          <a:p>
            <a:pPr algn="l"/>
            <a:r>
              <a:rPr sz="1300" b="1">
                <a:solidFill>
                  <a:srgbClr val="0F1B2D"/>
                </a:solidFill>
                <a:latin typeface="Calibri"/>
              </a:rPr>
              <a:t>Engineering plan</a:t>
            </a:r>
          </a:p>
        </p:txBody>
      </p:sp>
      <p:cxnSp>
        <p:nvCxnSpPr>
          <p:cNvPr id="19" name="Connector 18"/>
          <p:cNvCxnSpPr/>
          <p:nvPr/>
        </p:nvCxnSpPr>
        <p:spPr>
          <a:xfrm>
            <a:off x="2194560" y="3451860"/>
            <a:ext cx="279806"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474366" y="2971800"/>
            <a:ext cx="1645920" cy="960120"/>
          </a:xfrm>
          <a:prstGeom prst="roundRect">
            <a:avLst>
              <a:gd name="adj" fmla="val 8000"/>
            </a:avLst>
          </a:prstGeom>
          <a:solidFill>
            <a:srgbClr val="FDF1E6"/>
          </a:solidFill>
          <a:ln w="28575">
            <a:solidFill>
              <a:srgbClr val="E07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1">
                <a:solidFill>
                  <a:srgbClr val="B4541A"/>
                </a:solidFill>
                <a:latin typeface="Calibri"/>
              </a:rPr>
              <a:t>08 ★</a:t>
            </a:r>
          </a:p>
          <a:p>
            <a:pPr algn="l"/>
            <a:r>
              <a:rPr sz="1300" b="1">
                <a:solidFill>
                  <a:srgbClr val="0F1B2D"/>
                </a:solidFill>
                <a:latin typeface="Calibri"/>
              </a:rPr>
              <a:t>Approve the plan</a:t>
            </a:r>
          </a:p>
        </p:txBody>
      </p:sp>
      <p:cxnSp>
        <p:nvCxnSpPr>
          <p:cNvPr id="21" name="Connector 20"/>
          <p:cNvCxnSpPr/>
          <p:nvPr/>
        </p:nvCxnSpPr>
        <p:spPr>
          <a:xfrm>
            <a:off x="4120286" y="3451860"/>
            <a:ext cx="279806"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400092" y="2971800"/>
            <a:ext cx="1645920" cy="960120"/>
          </a:xfrm>
          <a:prstGeom prst="roundRect">
            <a:avLst>
              <a:gd name="adj" fmla="val 8000"/>
            </a:avLst>
          </a:prstGeom>
          <a:solidFill>
            <a:srgbClr val="FDF1E6"/>
          </a:solidFill>
          <a:ln w="28575">
            <a:solidFill>
              <a:srgbClr val="E07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1">
                <a:solidFill>
                  <a:srgbClr val="B4541A"/>
                </a:solidFill>
                <a:latin typeface="Calibri"/>
              </a:rPr>
              <a:t>09 ★</a:t>
            </a:r>
          </a:p>
          <a:p>
            <a:pPr algn="l"/>
            <a:r>
              <a:rPr sz="1300" b="1">
                <a:solidFill>
                  <a:srgbClr val="0F1B2D"/>
                </a:solidFill>
                <a:latin typeface="Calibri"/>
              </a:rPr>
              <a:t>Code diffs, approved</a:t>
            </a:r>
          </a:p>
        </p:txBody>
      </p:sp>
      <p:cxnSp>
        <p:nvCxnSpPr>
          <p:cNvPr id="23" name="Connector 22"/>
          <p:cNvCxnSpPr/>
          <p:nvPr/>
        </p:nvCxnSpPr>
        <p:spPr>
          <a:xfrm>
            <a:off x="6046012" y="3451860"/>
            <a:ext cx="279807"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325819" y="2971800"/>
            <a:ext cx="164592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10</a:t>
            </a:r>
          </a:p>
          <a:p>
            <a:pPr algn="l"/>
            <a:r>
              <a:rPr sz="1300" b="1">
                <a:solidFill>
                  <a:srgbClr val="0F1B2D"/>
                </a:solidFill>
                <a:latin typeface="Calibri"/>
              </a:rPr>
              <a:t>Test generation</a:t>
            </a:r>
          </a:p>
        </p:txBody>
      </p:sp>
      <p:cxnSp>
        <p:nvCxnSpPr>
          <p:cNvPr id="25" name="Connector 24"/>
          <p:cNvCxnSpPr/>
          <p:nvPr/>
        </p:nvCxnSpPr>
        <p:spPr>
          <a:xfrm>
            <a:off x="7971739" y="3451860"/>
            <a:ext cx="279806"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251545" y="2971800"/>
            <a:ext cx="164592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11</a:t>
            </a:r>
          </a:p>
          <a:p>
            <a:pPr algn="l"/>
            <a:r>
              <a:rPr sz="1300" b="1">
                <a:solidFill>
                  <a:srgbClr val="0F1B2D"/>
                </a:solidFill>
                <a:latin typeface="Calibri"/>
              </a:rPr>
              <a:t>Resilience testing</a:t>
            </a:r>
          </a:p>
        </p:txBody>
      </p:sp>
      <p:cxnSp>
        <p:nvCxnSpPr>
          <p:cNvPr id="27" name="Connector 26"/>
          <p:cNvCxnSpPr/>
          <p:nvPr/>
        </p:nvCxnSpPr>
        <p:spPr>
          <a:xfrm>
            <a:off x="9897465" y="3451860"/>
            <a:ext cx="279807"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177272" y="2971800"/>
            <a:ext cx="164592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12</a:t>
            </a:r>
          </a:p>
          <a:p>
            <a:pPr algn="l"/>
            <a:r>
              <a:rPr sz="1300" b="1">
                <a:solidFill>
                  <a:srgbClr val="0F1B2D"/>
                </a:solidFill>
                <a:latin typeface="Calibri"/>
              </a:rPr>
              <a:t>Chaos simulation</a:t>
            </a:r>
          </a:p>
        </p:txBody>
      </p:sp>
      <p:cxnSp>
        <p:nvCxnSpPr>
          <p:cNvPr id="29" name="Connector 28"/>
          <p:cNvCxnSpPr/>
          <p:nvPr/>
        </p:nvCxnSpPr>
        <p:spPr>
          <a:xfrm>
            <a:off x="11000232" y="3931920"/>
            <a:ext cx="0" cy="297180"/>
          </a:xfrm>
          <a:prstGeom prst="line">
            <a:avLst/>
          </a:prstGeom>
          <a:ln w="19050">
            <a:solidFill>
              <a:srgbClr val="8A94A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371600" y="4229100"/>
            <a:ext cx="9628632" cy="0"/>
          </a:xfrm>
          <a:prstGeom prst="line">
            <a:avLst/>
          </a:prstGeom>
          <a:ln w="19050">
            <a:solidFill>
              <a:srgbClr val="8A94A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71600" y="4229100"/>
            <a:ext cx="0" cy="29718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48640" y="4526280"/>
            <a:ext cx="164592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13</a:t>
            </a:r>
          </a:p>
          <a:p>
            <a:pPr algn="l"/>
            <a:r>
              <a:rPr sz="1300" b="1">
                <a:solidFill>
                  <a:srgbClr val="0F1B2D"/>
                </a:solidFill>
                <a:latin typeface="Calibri"/>
              </a:rPr>
              <a:t>Validation + live checks</a:t>
            </a:r>
          </a:p>
        </p:txBody>
      </p:sp>
      <p:cxnSp>
        <p:nvCxnSpPr>
          <p:cNvPr id="33" name="Connector 32"/>
          <p:cNvCxnSpPr/>
          <p:nvPr/>
        </p:nvCxnSpPr>
        <p:spPr>
          <a:xfrm>
            <a:off x="2194560" y="5006340"/>
            <a:ext cx="279806"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2474366" y="4526280"/>
            <a:ext cx="1645920" cy="960120"/>
          </a:xfrm>
          <a:prstGeom prst="roundRect">
            <a:avLst>
              <a:gd name="adj" fmla="val 8000"/>
            </a:avLst>
          </a:prstGeom>
          <a:solidFill>
            <a:srgbClr val="FFFFFF"/>
          </a:solidFill>
          <a:ln w="15875">
            <a:solidFill>
              <a:srgbClr val="8A94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14</a:t>
            </a:r>
          </a:p>
          <a:p>
            <a:pPr algn="l"/>
            <a:r>
              <a:rPr sz="1300" b="1">
                <a:solidFill>
                  <a:srgbClr val="0F1B2D"/>
                </a:solidFill>
                <a:latin typeface="Calibri"/>
              </a:rPr>
              <a:t>AI repair if it fails</a:t>
            </a:r>
          </a:p>
        </p:txBody>
      </p:sp>
      <p:cxnSp>
        <p:nvCxnSpPr>
          <p:cNvPr id="35" name="Connector 34"/>
          <p:cNvCxnSpPr/>
          <p:nvPr/>
        </p:nvCxnSpPr>
        <p:spPr>
          <a:xfrm>
            <a:off x="4120286" y="5006340"/>
            <a:ext cx="279806"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400092" y="4526280"/>
            <a:ext cx="1645920" cy="960120"/>
          </a:xfrm>
          <a:prstGeom prst="roundRect">
            <a:avLst>
              <a:gd name="adj" fmla="val 8000"/>
            </a:avLst>
          </a:prstGeom>
          <a:solidFill>
            <a:srgbClr val="FDF1E6"/>
          </a:solidFill>
          <a:ln w="28575">
            <a:solidFill>
              <a:srgbClr val="E07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1">
                <a:solidFill>
                  <a:srgbClr val="B4541A"/>
                </a:solidFill>
                <a:latin typeface="Calibri"/>
              </a:rPr>
              <a:t>15 ★</a:t>
            </a:r>
          </a:p>
          <a:p>
            <a:pPr algn="l"/>
            <a:r>
              <a:rPr sz="1300" b="1">
                <a:solidFill>
                  <a:srgbClr val="0F1B2D"/>
                </a:solidFill>
                <a:latin typeface="Calibri"/>
              </a:rPr>
              <a:t>Readiness, approve commit</a:t>
            </a:r>
          </a:p>
        </p:txBody>
      </p:sp>
      <p:cxnSp>
        <p:nvCxnSpPr>
          <p:cNvPr id="37" name="Connector 36"/>
          <p:cNvCxnSpPr/>
          <p:nvPr/>
        </p:nvCxnSpPr>
        <p:spPr>
          <a:xfrm>
            <a:off x="6046012" y="5006340"/>
            <a:ext cx="279807"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325819" y="4526280"/>
            <a:ext cx="164592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0">
                <a:solidFill>
                  <a:srgbClr val="6B7280"/>
                </a:solidFill>
                <a:latin typeface="Calibri"/>
              </a:rPr>
              <a:t>16</a:t>
            </a:r>
          </a:p>
          <a:p>
            <a:pPr algn="l"/>
            <a:r>
              <a:rPr sz="1300" b="1">
                <a:solidFill>
                  <a:srgbClr val="0F1B2D"/>
                </a:solidFill>
                <a:latin typeface="Calibri"/>
              </a:rPr>
              <a:t>CI/CD on GitHub</a:t>
            </a:r>
          </a:p>
        </p:txBody>
      </p:sp>
      <p:cxnSp>
        <p:nvCxnSpPr>
          <p:cNvPr id="39" name="Connector 38"/>
          <p:cNvCxnSpPr/>
          <p:nvPr/>
        </p:nvCxnSpPr>
        <p:spPr>
          <a:xfrm>
            <a:off x="7971739" y="5006340"/>
            <a:ext cx="279806"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251545" y="4526280"/>
            <a:ext cx="1645920" cy="960120"/>
          </a:xfrm>
          <a:prstGeom prst="roundRect">
            <a:avLst>
              <a:gd name="adj" fmla="val 8000"/>
            </a:avLst>
          </a:prstGeom>
          <a:solidFill>
            <a:srgbClr val="FDF1E6"/>
          </a:solidFill>
          <a:ln w="28575">
            <a:solidFill>
              <a:srgbClr val="E07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1">
                <a:solidFill>
                  <a:srgbClr val="B4541A"/>
                </a:solidFill>
                <a:latin typeface="Calibri"/>
              </a:rPr>
              <a:t>17 ★</a:t>
            </a:r>
          </a:p>
          <a:p>
            <a:pPr algn="l"/>
            <a:r>
              <a:rPr sz="1300" b="1">
                <a:solidFill>
                  <a:srgbClr val="0F1B2D"/>
                </a:solidFill>
                <a:latin typeface="Calibri"/>
              </a:rPr>
              <a:t>Approve the merge</a:t>
            </a:r>
          </a:p>
        </p:txBody>
      </p:sp>
      <p:cxnSp>
        <p:nvCxnSpPr>
          <p:cNvPr id="41" name="Connector 40"/>
          <p:cNvCxnSpPr/>
          <p:nvPr/>
        </p:nvCxnSpPr>
        <p:spPr>
          <a:xfrm>
            <a:off x="9897465" y="5006340"/>
            <a:ext cx="279807"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10177272" y="4526280"/>
            <a:ext cx="1645920" cy="960120"/>
          </a:xfrm>
          <a:prstGeom prst="roundRect">
            <a:avLst>
              <a:gd name="adj" fmla="val 8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100" b="1">
                <a:solidFill>
                  <a:srgbClr val="E07A2E"/>
                </a:solidFill>
                <a:latin typeface="Calibri"/>
              </a:rPr>
              <a:t>18</a:t>
            </a:r>
          </a:p>
          <a:p>
            <a:pPr algn="l"/>
            <a:r>
              <a:rPr sz="1300" b="1">
                <a:solidFill>
                  <a:srgbClr val="F4F1EA"/>
                </a:solidFill>
                <a:latin typeface="Calibri"/>
              </a:rPr>
              <a:t>Final report</a:t>
            </a:r>
          </a:p>
        </p:txBody>
      </p:sp>
      <p:cxnSp>
        <p:nvCxnSpPr>
          <p:cNvPr id="43" name="Connector 42"/>
          <p:cNvCxnSpPr/>
          <p:nvPr/>
        </p:nvCxnSpPr>
        <p:spPr>
          <a:xfrm>
            <a:off x="3297326" y="5486400"/>
            <a:ext cx="0" cy="320040"/>
          </a:xfrm>
          <a:prstGeom prst="line">
            <a:avLst/>
          </a:prstGeom>
          <a:ln w="19050">
            <a:solidFill>
              <a:srgbClr val="B4541A"/>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1371600" y="5806440"/>
            <a:ext cx="1925726" cy="0"/>
          </a:xfrm>
          <a:prstGeom prst="line">
            <a:avLst/>
          </a:prstGeom>
          <a:ln w="19050">
            <a:solidFill>
              <a:srgbClr val="B4541A"/>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371600" y="5486400"/>
            <a:ext cx="0" cy="320040"/>
          </a:xfrm>
          <a:prstGeom prst="line">
            <a:avLst/>
          </a:prstGeom>
          <a:ln w="19050">
            <a:solidFill>
              <a:srgbClr val="B4541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480206" y="5641848"/>
            <a:ext cx="7772400" cy="320040"/>
          </a:xfrm>
          <a:prstGeom prst="rect">
            <a:avLst/>
          </a:prstGeom>
          <a:noFill/>
        </p:spPr>
        <p:txBody>
          <a:bodyPr wrap="square" anchor="t" lIns="0" rIns="0" tIns="0" bIns="0">
            <a:spAutoFit/>
          </a:bodyPr>
          <a:lstStyle/>
          <a:p>
            <a:pPr algn="l"/>
            <a:r>
              <a:rPr sz="1300" b="0">
                <a:solidFill>
                  <a:srgbClr val="B4541A"/>
                </a:solidFill>
                <a:latin typeface="Calibri"/>
              </a:rPr>
              <a:t>A failing check goes to repair, then validation runs again (at most 2 repairs)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Box 1"/>
          <p:cNvSpPr txBox="1"/>
          <p:nvPr/>
        </p:nvSpPr>
        <p:spPr>
          <a:xfrm>
            <a:off x="548640" y="457200"/>
            <a:ext cx="10972800" cy="320040"/>
          </a:xfrm>
          <a:prstGeom prst="rect">
            <a:avLst/>
          </a:prstGeom>
          <a:noFill/>
        </p:spPr>
        <p:txBody>
          <a:bodyPr wrap="square" anchor="t" lIns="0" rIns="0" tIns="0" bIns="0">
            <a:spAutoFit/>
          </a:bodyPr>
          <a:lstStyle/>
          <a:p>
            <a:pPr algn="l"/>
            <a:r>
              <a:rPr sz="1300" b="1">
                <a:solidFill>
                  <a:srgbClr val="E07A2E"/>
                </a:solidFill>
                <a:latin typeface="Calibri"/>
              </a:rPr>
              <a:t>HUMAN IN THE LOOP</a:t>
            </a:r>
          </a:p>
        </p:txBody>
      </p:sp>
      <p:sp>
        <p:nvSpPr>
          <p:cNvPr id="3" name="TextBox 2"/>
          <p:cNvSpPr txBox="1"/>
          <p:nvPr/>
        </p:nvSpPr>
        <p:spPr>
          <a:xfrm>
            <a:off x="548640" y="850392"/>
            <a:ext cx="11064240" cy="822960"/>
          </a:xfrm>
          <a:prstGeom prst="rect">
            <a:avLst/>
          </a:prstGeom>
          <a:noFill/>
        </p:spPr>
        <p:txBody>
          <a:bodyPr wrap="square" anchor="t" lIns="0" rIns="0" tIns="0" bIns="0">
            <a:spAutoFit/>
          </a:bodyPr>
          <a:lstStyle/>
          <a:p>
            <a:pPr algn="l"/>
            <a:r>
              <a:rPr sz="3200" b="1">
                <a:solidFill>
                  <a:srgbClr val="F4F1EA"/>
                </a:solidFill>
                <a:latin typeface="Cambria"/>
              </a:rPr>
              <a:t>Nothing ships without a person saying yes — four times</a:t>
            </a:r>
          </a:p>
        </p:txBody>
      </p:sp>
      <p:sp>
        <p:nvSpPr>
          <p:cNvPr id="4" name="Rounded Rectangle 3"/>
          <p:cNvSpPr/>
          <p:nvPr/>
        </p:nvSpPr>
        <p:spPr>
          <a:xfrm>
            <a:off x="548640" y="2103120"/>
            <a:ext cx="2642616" cy="26517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59" y="2286000"/>
            <a:ext cx="2103120" cy="731520"/>
          </a:xfrm>
          <a:prstGeom prst="rect">
            <a:avLst/>
          </a:prstGeom>
          <a:noFill/>
        </p:spPr>
        <p:txBody>
          <a:bodyPr wrap="square" anchor="t" lIns="0" rIns="0" tIns="0" bIns="0">
            <a:spAutoFit/>
          </a:bodyPr>
          <a:lstStyle/>
          <a:p>
            <a:pPr algn="l"/>
            <a:r>
              <a:rPr sz="4400" b="1">
                <a:solidFill>
                  <a:srgbClr val="E07A2E"/>
                </a:solidFill>
                <a:latin typeface="Cambria"/>
              </a:rPr>
              <a:t>1</a:t>
            </a:r>
          </a:p>
        </p:txBody>
      </p:sp>
      <p:sp>
        <p:nvSpPr>
          <p:cNvPr id="6" name="TextBox 5"/>
          <p:cNvSpPr txBox="1"/>
          <p:nvPr/>
        </p:nvSpPr>
        <p:spPr>
          <a:xfrm>
            <a:off x="822959" y="3063240"/>
            <a:ext cx="2103120" cy="457200"/>
          </a:xfrm>
          <a:prstGeom prst="rect">
            <a:avLst/>
          </a:prstGeom>
          <a:noFill/>
        </p:spPr>
        <p:txBody>
          <a:bodyPr wrap="square" anchor="t" lIns="0" rIns="0" tIns="0" bIns="0">
            <a:spAutoFit/>
          </a:bodyPr>
          <a:lstStyle/>
          <a:p>
            <a:pPr algn="l"/>
            <a:r>
              <a:rPr sz="2200" b="1">
                <a:solidFill>
                  <a:srgbClr val="F4F1EA"/>
                </a:solidFill>
                <a:latin typeface="Cambria"/>
              </a:rPr>
              <a:t>The plan</a:t>
            </a:r>
          </a:p>
        </p:txBody>
      </p:sp>
      <p:sp>
        <p:nvSpPr>
          <p:cNvPr id="7" name="TextBox 6"/>
          <p:cNvSpPr txBox="1"/>
          <p:nvPr/>
        </p:nvSpPr>
        <p:spPr>
          <a:xfrm>
            <a:off x="822959" y="3611880"/>
            <a:ext cx="2148840" cy="1097280"/>
          </a:xfrm>
          <a:prstGeom prst="rect">
            <a:avLst/>
          </a:prstGeom>
          <a:noFill/>
        </p:spPr>
        <p:txBody>
          <a:bodyPr wrap="square" anchor="t" lIns="0" rIns="0" tIns="0" bIns="0">
            <a:spAutoFit/>
          </a:bodyPr>
          <a:lstStyle/>
          <a:p>
            <a:pPr algn="l"/>
            <a:r>
              <a:rPr sz="1600" b="0">
                <a:solidFill>
                  <a:srgbClr val="C9D4E3"/>
                </a:solidFill>
                <a:latin typeface="Calibri"/>
              </a:rPr>
              <a:t>Edit, reorder or reject its steps, files and risks.</a:t>
            </a:r>
          </a:p>
        </p:txBody>
      </p:sp>
      <p:sp>
        <p:nvSpPr>
          <p:cNvPr id="8" name="Rounded Rectangle 7"/>
          <p:cNvSpPr/>
          <p:nvPr/>
        </p:nvSpPr>
        <p:spPr>
          <a:xfrm>
            <a:off x="3364992" y="2103120"/>
            <a:ext cx="2642616" cy="26517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639312" y="2286000"/>
            <a:ext cx="2103120" cy="731520"/>
          </a:xfrm>
          <a:prstGeom prst="rect">
            <a:avLst/>
          </a:prstGeom>
          <a:noFill/>
        </p:spPr>
        <p:txBody>
          <a:bodyPr wrap="square" anchor="t" lIns="0" rIns="0" tIns="0" bIns="0">
            <a:spAutoFit/>
          </a:bodyPr>
          <a:lstStyle/>
          <a:p>
            <a:pPr algn="l"/>
            <a:r>
              <a:rPr sz="4400" b="1">
                <a:solidFill>
                  <a:srgbClr val="E07A2E"/>
                </a:solidFill>
                <a:latin typeface="Cambria"/>
              </a:rPr>
              <a:t>2</a:t>
            </a:r>
          </a:p>
        </p:txBody>
      </p:sp>
      <p:sp>
        <p:nvSpPr>
          <p:cNvPr id="10" name="TextBox 9"/>
          <p:cNvSpPr txBox="1"/>
          <p:nvPr/>
        </p:nvSpPr>
        <p:spPr>
          <a:xfrm>
            <a:off x="3639312" y="3063240"/>
            <a:ext cx="2103120" cy="457200"/>
          </a:xfrm>
          <a:prstGeom prst="rect">
            <a:avLst/>
          </a:prstGeom>
          <a:noFill/>
        </p:spPr>
        <p:txBody>
          <a:bodyPr wrap="square" anchor="t" lIns="0" rIns="0" tIns="0" bIns="0">
            <a:spAutoFit/>
          </a:bodyPr>
          <a:lstStyle/>
          <a:p>
            <a:pPr algn="l"/>
            <a:r>
              <a:rPr sz="2200" b="1">
                <a:solidFill>
                  <a:srgbClr val="F4F1EA"/>
                </a:solidFill>
                <a:latin typeface="Cambria"/>
              </a:rPr>
              <a:t>The code</a:t>
            </a:r>
          </a:p>
        </p:txBody>
      </p:sp>
      <p:sp>
        <p:nvSpPr>
          <p:cNvPr id="11" name="TextBox 10"/>
          <p:cNvSpPr txBox="1"/>
          <p:nvPr/>
        </p:nvSpPr>
        <p:spPr>
          <a:xfrm>
            <a:off x="3639312" y="3611880"/>
            <a:ext cx="2148840" cy="1097280"/>
          </a:xfrm>
          <a:prstGeom prst="rect">
            <a:avLst/>
          </a:prstGeom>
          <a:noFill/>
        </p:spPr>
        <p:txBody>
          <a:bodyPr wrap="square" anchor="t" lIns="0" rIns="0" tIns="0" bIns="0">
            <a:spAutoFit/>
          </a:bodyPr>
          <a:lstStyle/>
          <a:p>
            <a:pPr algn="l"/>
            <a:r>
              <a:rPr sz="1600" b="0">
                <a:solidFill>
                  <a:srgbClr val="C9D4E3"/>
                </a:solidFill>
                <a:latin typeface="Calibri"/>
              </a:rPr>
              <a:t>Review every diff; reject to regenerate.</a:t>
            </a:r>
          </a:p>
        </p:txBody>
      </p:sp>
      <p:sp>
        <p:nvSpPr>
          <p:cNvPr id="12" name="Rounded Rectangle 11"/>
          <p:cNvSpPr/>
          <p:nvPr/>
        </p:nvSpPr>
        <p:spPr>
          <a:xfrm>
            <a:off x="6181344" y="2103120"/>
            <a:ext cx="2642616" cy="26517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55664" y="2286000"/>
            <a:ext cx="2103120" cy="731520"/>
          </a:xfrm>
          <a:prstGeom prst="rect">
            <a:avLst/>
          </a:prstGeom>
          <a:noFill/>
        </p:spPr>
        <p:txBody>
          <a:bodyPr wrap="square" anchor="t" lIns="0" rIns="0" tIns="0" bIns="0">
            <a:spAutoFit/>
          </a:bodyPr>
          <a:lstStyle/>
          <a:p>
            <a:pPr algn="l"/>
            <a:r>
              <a:rPr sz="4400" b="1">
                <a:solidFill>
                  <a:srgbClr val="E07A2E"/>
                </a:solidFill>
                <a:latin typeface="Cambria"/>
              </a:rPr>
              <a:t>3</a:t>
            </a:r>
          </a:p>
        </p:txBody>
      </p:sp>
      <p:sp>
        <p:nvSpPr>
          <p:cNvPr id="14" name="TextBox 13"/>
          <p:cNvSpPr txBox="1"/>
          <p:nvPr/>
        </p:nvSpPr>
        <p:spPr>
          <a:xfrm>
            <a:off x="6455664" y="3063240"/>
            <a:ext cx="2103120" cy="457200"/>
          </a:xfrm>
          <a:prstGeom prst="rect">
            <a:avLst/>
          </a:prstGeom>
          <a:noFill/>
        </p:spPr>
        <p:txBody>
          <a:bodyPr wrap="square" anchor="t" lIns="0" rIns="0" tIns="0" bIns="0">
            <a:spAutoFit/>
          </a:bodyPr>
          <a:lstStyle/>
          <a:p>
            <a:pPr algn="l"/>
            <a:r>
              <a:rPr sz="2200" b="1">
                <a:solidFill>
                  <a:srgbClr val="F4F1EA"/>
                </a:solidFill>
                <a:latin typeface="Cambria"/>
              </a:rPr>
              <a:t>The commit</a:t>
            </a:r>
          </a:p>
        </p:txBody>
      </p:sp>
      <p:sp>
        <p:nvSpPr>
          <p:cNvPr id="15" name="TextBox 14"/>
          <p:cNvSpPr txBox="1"/>
          <p:nvPr/>
        </p:nvSpPr>
        <p:spPr>
          <a:xfrm>
            <a:off x="6455664" y="3611880"/>
            <a:ext cx="2148840" cy="1097280"/>
          </a:xfrm>
          <a:prstGeom prst="rect">
            <a:avLst/>
          </a:prstGeom>
          <a:noFill/>
        </p:spPr>
        <p:txBody>
          <a:bodyPr wrap="square" anchor="t" lIns="0" rIns="0" tIns="0" bIns="0">
            <a:spAutoFit/>
          </a:bodyPr>
          <a:lstStyle/>
          <a:p>
            <a:pPr algn="l"/>
            <a:r>
              <a:rPr sz="1600" b="0">
                <a:solidFill>
                  <a:srgbClr val="C9D4E3"/>
                </a:solidFill>
                <a:latin typeface="Calibri"/>
              </a:rPr>
              <a:t>After validation and the readiness decision.</a:t>
            </a:r>
          </a:p>
        </p:txBody>
      </p:sp>
      <p:sp>
        <p:nvSpPr>
          <p:cNvPr id="16" name="Rounded Rectangle 15"/>
          <p:cNvSpPr/>
          <p:nvPr/>
        </p:nvSpPr>
        <p:spPr>
          <a:xfrm>
            <a:off x="8997696" y="2103120"/>
            <a:ext cx="2642616" cy="26517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72016" y="2286000"/>
            <a:ext cx="2103120" cy="731520"/>
          </a:xfrm>
          <a:prstGeom prst="rect">
            <a:avLst/>
          </a:prstGeom>
          <a:noFill/>
        </p:spPr>
        <p:txBody>
          <a:bodyPr wrap="square" anchor="t" lIns="0" rIns="0" tIns="0" bIns="0">
            <a:spAutoFit/>
          </a:bodyPr>
          <a:lstStyle/>
          <a:p>
            <a:pPr algn="l"/>
            <a:r>
              <a:rPr sz="4400" b="1">
                <a:solidFill>
                  <a:srgbClr val="E07A2E"/>
                </a:solidFill>
                <a:latin typeface="Cambria"/>
              </a:rPr>
              <a:t>4</a:t>
            </a:r>
          </a:p>
        </p:txBody>
      </p:sp>
      <p:sp>
        <p:nvSpPr>
          <p:cNvPr id="18" name="TextBox 17"/>
          <p:cNvSpPr txBox="1"/>
          <p:nvPr/>
        </p:nvSpPr>
        <p:spPr>
          <a:xfrm>
            <a:off x="9272016" y="3063240"/>
            <a:ext cx="2103120" cy="457200"/>
          </a:xfrm>
          <a:prstGeom prst="rect">
            <a:avLst/>
          </a:prstGeom>
          <a:noFill/>
        </p:spPr>
        <p:txBody>
          <a:bodyPr wrap="square" anchor="t" lIns="0" rIns="0" tIns="0" bIns="0">
            <a:spAutoFit/>
          </a:bodyPr>
          <a:lstStyle/>
          <a:p>
            <a:pPr algn="l"/>
            <a:r>
              <a:rPr sz="2200" b="1">
                <a:solidFill>
                  <a:srgbClr val="F4F1EA"/>
                </a:solidFill>
                <a:latin typeface="Cambria"/>
              </a:rPr>
              <a:t>Every merge</a:t>
            </a:r>
          </a:p>
        </p:txBody>
      </p:sp>
      <p:sp>
        <p:nvSpPr>
          <p:cNvPr id="19" name="TextBox 18"/>
          <p:cNvSpPr txBox="1"/>
          <p:nvPr/>
        </p:nvSpPr>
        <p:spPr>
          <a:xfrm>
            <a:off x="9272016" y="3611880"/>
            <a:ext cx="2148840" cy="1097280"/>
          </a:xfrm>
          <a:prstGeom prst="rect">
            <a:avLst/>
          </a:prstGeom>
          <a:noFill/>
        </p:spPr>
        <p:txBody>
          <a:bodyPr wrap="square" anchor="t" lIns="0" rIns="0" tIns="0" bIns="0">
            <a:spAutoFit/>
          </a:bodyPr>
          <a:lstStyle/>
          <a:p>
            <a:pPr algn="l"/>
            <a:r>
              <a:rPr sz="1600" b="0">
                <a:solidFill>
                  <a:srgbClr val="C9D4E3"/>
                </a:solidFill>
                <a:latin typeface="Calibri"/>
              </a:rPr>
              <a:t>Into staging, and staging into main — only with green checks.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64240" cy="822960"/>
          </a:xfrm>
          <a:prstGeom prst="rect">
            <a:avLst/>
          </a:prstGeom>
          <a:noFill/>
        </p:spPr>
        <p:txBody>
          <a:bodyPr wrap="square" anchor="t" lIns="0" rIns="0" tIns="0" bIns="0">
            <a:spAutoFit/>
          </a:bodyPr>
          <a:lstStyle/>
          <a:p>
            <a:pPr algn="l"/>
            <a:r>
              <a:rPr sz="3200" b="1">
                <a:solidFill>
                  <a:srgbClr val="0F1B2D"/>
                </a:solidFill>
                <a:latin typeface="Cambria"/>
              </a:rPr>
              <a:t>Every change is tested as code, then as a running service</a:t>
            </a:r>
          </a:p>
        </p:txBody>
      </p:sp>
      <p:sp>
        <p:nvSpPr>
          <p:cNvPr id="3" name="Rounded Rectangle 2"/>
          <p:cNvSpPr/>
          <p:nvPr/>
        </p:nvSpPr>
        <p:spPr>
          <a:xfrm>
            <a:off x="548640" y="1463040"/>
            <a:ext cx="3931920" cy="47548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691640"/>
            <a:ext cx="3474720" cy="457200"/>
          </a:xfrm>
          <a:prstGeom prst="rect">
            <a:avLst/>
          </a:prstGeom>
          <a:noFill/>
        </p:spPr>
        <p:txBody>
          <a:bodyPr wrap="square" anchor="t" lIns="0" rIns="0" tIns="0" bIns="0">
            <a:spAutoFit/>
          </a:bodyPr>
          <a:lstStyle/>
          <a:p>
            <a:pPr algn="l"/>
            <a:r>
              <a:rPr sz="2200" b="1">
                <a:solidFill>
                  <a:srgbClr val="0F1B2D"/>
                </a:solidFill>
                <a:latin typeface="Cambria"/>
              </a:rPr>
              <a:t>In the sandbox</a:t>
            </a:r>
          </a:p>
        </p:txBody>
      </p:sp>
      <p:sp>
        <p:nvSpPr>
          <p:cNvPr id="5" name="TextBox 4"/>
          <p:cNvSpPr txBox="1"/>
          <p:nvPr/>
        </p:nvSpPr>
        <p:spPr>
          <a:xfrm>
            <a:off x="822960" y="2240280"/>
            <a:ext cx="3474720" cy="822960"/>
          </a:xfrm>
          <a:prstGeom prst="rect">
            <a:avLst/>
          </a:prstGeom>
          <a:noFill/>
        </p:spPr>
        <p:txBody>
          <a:bodyPr wrap="square" anchor="t" lIns="0" rIns="0" tIns="0" bIns="0">
            <a:spAutoFit/>
          </a:bodyPr>
          <a:lstStyle/>
          <a:p>
            <a:pPr algn="l"/>
            <a:r>
              <a:rPr sz="1500" b="0">
                <a:solidFill>
                  <a:srgbClr val="4A5568"/>
                </a:solidFill>
                <a:latin typeface="Calibri"/>
              </a:rPr>
              <a:t>An isolated copy of the repository; only allowlisted commands, with timeouts.</a:t>
            </a:r>
          </a:p>
        </p:txBody>
      </p:sp>
      <p:sp>
        <p:nvSpPr>
          <p:cNvPr id="6" name="Rounded Rectangle 5"/>
          <p:cNvSpPr/>
          <p:nvPr/>
        </p:nvSpPr>
        <p:spPr>
          <a:xfrm>
            <a:off x="822960" y="3154680"/>
            <a:ext cx="3383280" cy="45720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a:solidFill>
                  <a:srgbClr val="0F1B2D"/>
                </a:solidFill>
                <a:latin typeface="Calibri"/>
              </a:rPr>
              <a:t>1   Syntax check</a:t>
            </a:r>
          </a:p>
        </p:txBody>
      </p:sp>
      <p:sp>
        <p:nvSpPr>
          <p:cNvPr id="7" name="Rounded Rectangle 6"/>
          <p:cNvSpPr/>
          <p:nvPr/>
        </p:nvSpPr>
        <p:spPr>
          <a:xfrm>
            <a:off x="822960" y="3721608"/>
            <a:ext cx="3383280" cy="45720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a:solidFill>
                  <a:srgbClr val="0F1B2D"/>
                </a:solidFill>
                <a:latin typeface="Calibri"/>
              </a:rPr>
              <a:t>2   Lint (ruff)</a:t>
            </a:r>
          </a:p>
        </p:txBody>
      </p:sp>
      <p:sp>
        <p:nvSpPr>
          <p:cNvPr id="8" name="Rounded Rectangle 7"/>
          <p:cNvSpPr/>
          <p:nvPr/>
        </p:nvSpPr>
        <p:spPr>
          <a:xfrm>
            <a:off x="822960" y="4288536"/>
            <a:ext cx="3383280" cy="45720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a:solidFill>
                  <a:srgbClr val="0F1B2D"/>
                </a:solidFill>
                <a:latin typeface="Calibri"/>
              </a:rPr>
              <a:t>3   Unit tests (pytest)</a:t>
            </a:r>
          </a:p>
        </p:txBody>
      </p:sp>
      <p:sp>
        <p:nvSpPr>
          <p:cNvPr id="9" name="Rounded Rectangle 8"/>
          <p:cNvSpPr/>
          <p:nvPr/>
        </p:nvSpPr>
        <p:spPr>
          <a:xfrm>
            <a:off x="822960" y="4855464"/>
            <a:ext cx="3383280" cy="45720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a:solidFill>
                  <a:srgbClr val="0F1B2D"/>
                </a:solidFill>
                <a:latin typeface="Calibri"/>
              </a:rPr>
              <a:t>4   Docker image build</a:t>
            </a:r>
          </a:p>
        </p:txBody>
      </p:sp>
      <p:sp>
        <p:nvSpPr>
          <p:cNvPr id="10" name="Rounded Rectangle 9"/>
          <p:cNvSpPr/>
          <p:nvPr/>
        </p:nvSpPr>
        <p:spPr>
          <a:xfrm>
            <a:off x="822960" y="5422392"/>
            <a:ext cx="3383280" cy="45720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a:solidFill>
                  <a:srgbClr val="0F1B2D"/>
                </a:solidFill>
                <a:latin typeface="Calibri"/>
              </a:rPr>
              <a:t>5   Security scan</a:t>
            </a:r>
          </a:p>
        </p:txBody>
      </p:sp>
      <p:sp>
        <p:nvSpPr>
          <p:cNvPr id="11" name="Rounded Rectangle 10"/>
          <p:cNvSpPr/>
          <p:nvPr/>
        </p:nvSpPr>
        <p:spPr>
          <a:xfrm>
            <a:off x="4754880" y="1463040"/>
            <a:ext cx="6885432" cy="4754880"/>
          </a:xfrm>
          <a:prstGeom prst="roundRect">
            <a:avLst>
              <a:gd name="adj" fmla="val 8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029200" y="1691640"/>
            <a:ext cx="6400800" cy="457200"/>
          </a:xfrm>
          <a:prstGeom prst="rect">
            <a:avLst/>
          </a:prstGeom>
          <a:noFill/>
        </p:spPr>
        <p:txBody>
          <a:bodyPr wrap="square" anchor="t" lIns="0" rIns="0" tIns="0" bIns="0">
            <a:spAutoFit/>
          </a:bodyPr>
          <a:lstStyle/>
          <a:p>
            <a:pPr algn="l"/>
            <a:r>
              <a:rPr sz="2200" b="1">
                <a:solidFill>
                  <a:srgbClr val="E07A2E"/>
                </a:solidFill>
                <a:latin typeface="Cambria"/>
              </a:rPr>
              <a:t>Live production checks</a:t>
            </a:r>
          </a:p>
        </p:txBody>
      </p:sp>
      <p:sp>
        <p:nvSpPr>
          <p:cNvPr id="13" name="Rounded Rectangle 12"/>
          <p:cNvSpPr/>
          <p:nvPr/>
        </p:nvSpPr>
        <p:spPr>
          <a:xfrm>
            <a:off x="5029200" y="2331720"/>
            <a:ext cx="3063240" cy="10515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a:solidFill>
                  <a:srgbClr val="F4F1EA"/>
                </a:solidFill>
                <a:latin typeface="Calibri"/>
              </a:rPr>
              <a:t>Boot</a:t>
            </a:r>
          </a:p>
          <a:p>
            <a:pPr algn="l"/>
            <a:r>
              <a:rPr sz="1400" b="0">
                <a:solidFill>
                  <a:srgbClr val="C9D4E3"/>
                </a:solidFill>
                <a:latin typeface="Calibri"/>
              </a:rPr>
              <a:t>starts healthy in time</a:t>
            </a:r>
          </a:p>
        </p:txBody>
      </p:sp>
      <p:sp>
        <p:nvSpPr>
          <p:cNvPr id="14" name="Rounded Rectangle 13"/>
          <p:cNvSpPr/>
          <p:nvPr/>
        </p:nvSpPr>
        <p:spPr>
          <a:xfrm>
            <a:off x="8275320" y="2331720"/>
            <a:ext cx="3063240" cy="10515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a:solidFill>
                  <a:srgbClr val="F4F1EA"/>
                </a:solidFill>
                <a:latin typeface="Calibri"/>
              </a:rPr>
              <a:t>Smoke</a:t>
            </a:r>
          </a:p>
          <a:p>
            <a:pPr algn="l"/>
            <a:r>
              <a:rPr sz="1400" b="0">
                <a:solidFill>
                  <a:srgbClr val="C9D4E3"/>
                </a:solidFill>
                <a:latin typeface="Calibri"/>
              </a:rPr>
              <a:t>every read endpoint answers</a:t>
            </a:r>
          </a:p>
        </p:txBody>
      </p:sp>
      <p:sp>
        <p:nvSpPr>
          <p:cNvPr id="15" name="Rounded Rectangle 14"/>
          <p:cNvSpPr/>
          <p:nvPr/>
        </p:nvSpPr>
        <p:spPr>
          <a:xfrm>
            <a:off x="5029200" y="3566160"/>
            <a:ext cx="3063240" cy="10515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a:solidFill>
                  <a:srgbClr val="F4F1EA"/>
                </a:solidFill>
                <a:latin typeface="Calibri"/>
              </a:rPr>
              <a:t>API contract</a:t>
            </a:r>
          </a:p>
          <a:p>
            <a:pPr algn="l"/>
            <a:r>
              <a:rPr sz="1400" b="0">
                <a:solidFill>
                  <a:srgbClr val="C9D4E3"/>
                </a:solidFill>
                <a:latin typeface="Calibri"/>
              </a:rPr>
              <a:t>create → read → update → delete</a:t>
            </a:r>
          </a:p>
        </p:txBody>
      </p:sp>
      <p:sp>
        <p:nvSpPr>
          <p:cNvPr id="16" name="Rounded Rectangle 15"/>
          <p:cNvSpPr/>
          <p:nvPr/>
        </p:nvSpPr>
        <p:spPr>
          <a:xfrm>
            <a:off x="8275320" y="3566160"/>
            <a:ext cx="3063240" cy="10515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a:solidFill>
                  <a:srgbClr val="F4F1EA"/>
                </a:solidFill>
                <a:latin typeface="Calibri"/>
              </a:rPr>
              <a:t>Hostile input</a:t>
            </a:r>
          </a:p>
          <a:p>
            <a:pPr algn="l"/>
            <a:r>
              <a:rPr sz="1400" b="0">
                <a:solidFill>
                  <a:srgbClr val="C9D4E3"/>
                </a:solidFill>
                <a:latin typeface="Calibri"/>
              </a:rPr>
              <a:t>no 5xx, no leaked traces</a:t>
            </a:r>
          </a:p>
        </p:txBody>
      </p:sp>
      <p:sp>
        <p:nvSpPr>
          <p:cNvPr id="17" name="Rounded Rectangle 16"/>
          <p:cNvSpPr/>
          <p:nvPr/>
        </p:nvSpPr>
        <p:spPr>
          <a:xfrm>
            <a:off x="5029200" y="4800600"/>
            <a:ext cx="3063240" cy="10515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a:solidFill>
                  <a:srgbClr val="F4F1EA"/>
                </a:solidFill>
                <a:latin typeface="Calibri"/>
              </a:rPr>
              <a:t>Load</a:t>
            </a:r>
          </a:p>
          <a:p>
            <a:pPr algn="l"/>
            <a:r>
              <a:rPr sz="1400" b="0">
                <a:solidFill>
                  <a:srgbClr val="C9D4E3"/>
                </a:solidFill>
                <a:latin typeface="Calibri"/>
              </a:rPr>
              <a:t>300 requests, p95 under 1 s</a:t>
            </a:r>
          </a:p>
        </p:txBody>
      </p:sp>
      <p:sp>
        <p:nvSpPr>
          <p:cNvPr id="18" name="Rounded Rectangle 17"/>
          <p:cNvSpPr/>
          <p:nvPr/>
        </p:nvSpPr>
        <p:spPr>
          <a:xfrm>
            <a:off x="8275320" y="4800600"/>
            <a:ext cx="3063240" cy="10515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a:solidFill>
                  <a:srgbClr val="F4F1EA"/>
                </a:solidFill>
                <a:latin typeface="Calibri"/>
              </a:rPr>
              <a:t>Restart</a:t>
            </a:r>
          </a:p>
          <a:p>
            <a:pPr algn="l"/>
            <a:r>
              <a:rPr sz="1400" b="0">
                <a:solidFill>
                  <a:srgbClr val="C9D4E3"/>
                </a:solidFill>
                <a:latin typeface="Calibri"/>
              </a:rPr>
              <a:t>stops cleanly, comes back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64240" cy="822960"/>
          </a:xfrm>
          <a:prstGeom prst="rect">
            <a:avLst/>
          </a:prstGeom>
          <a:noFill/>
        </p:spPr>
        <p:txBody>
          <a:bodyPr wrap="square" anchor="t" lIns="0" rIns="0" tIns="0" bIns="0">
            <a:spAutoFit/>
          </a:bodyPr>
          <a:lstStyle/>
          <a:p>
            <a:pPr algn="l"/>
            <a:r>
              <a:rPr sz="3200" b="1">
                <a:solidFill>
                  <a:srgbClr val="0F1B2D"/>
                </a:solidFill>
                <a:latin typeface="Cambria"/>
              </a:rPr>
              <a:t>Delivery: staging first, then main</a:t>
            </a:r>
          </a:p>
        </p:txBody>
      </p:sp>
      <p:sp>
        <p:nvSpPr>
          <p:cNvPr id="3" name="Rounded Rectangle 2"/>
          <p:cNvSpPr/>
          <p:nvPr/>
        </p:nvSpPr>
        <p:spPr>
          <a:xfrm>
            <a:off x="548640" y="1554480"/>
            <a:ext cx="205740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a:solidFill>
                  <a:srgbClr val="0F1B2D"/>
                </a:solidFill>
                <a:latin typeface="Calibri"/>
              </a:rPr>
              <a:t>Approved commit</a:t>
            </a:r>
          </a:p>
        </p:txBody>
      </p:sp>
      <p:cxnSp>
        <p:nvCxnSpPr>
          <p:cNvPr id="4" name="Connector 3"/>
          <p:cNvCxnSpPr/>
          <p:nvPr/>
        </p:nvCxnSpPr>
        <p:spPr>
          <a:xfrm>
            <a:off x="2606040" y="2034540"/>
            <a:ext cx="201168"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807208" y="1554480"/>
            <a:ext cx="205740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a:solidFill>
                  <a:srgbClr val="0F1B2D"/>
                </a:solidFill>
                <a:latin typeface="Calibri"/>
              </a:rPr>
              <a:t>Feature branch from latest staging</a:t>
            </a:r>
          </a:p>
        </p:txBody>
      </p:sp>
      <p:cxnSp>
        <p:nvCxnSpPr>
          <p:cNvPr id="6" name="Connector 5"/>
          <p:cNvCxnSpPr/>
          <p:nvPr/>
        </p:nvCxnSpPr>
        <p:spPr>
          <a:xfrm>
            <a:off x="4864608" y="2034540"/>
            <a:ext cx="201168"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65776" y="1554480"/>
            <a:ext cx="205740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a:solidFill>
                  <a:srgbClr val="0F1B2D"/>
                </a:solidFill>
                <a:latin typeface="Calibri"/>
              </a:rPr>
              <a:t>Pull request into staging; CI runs</a:t>
            </a:r>
          </a:p>
        </p:txBody>
      </p:sp>
      <p:cxnSp>
        <p:nvCxnSpPr>
          <p:cNvPr id="8" name="Connector 7"/>
          <p:cNvCxnSpPr/>
          <p:nvPr/>
        </p:nvCxnSpPr>
        <p:spPr>
          <a:xfrm>
            <a:off x="7123176" y="2034540"/>
            <a:ext cx="201168"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24344" y="1554480"/>
            <a:ext cx="2057400" cy="960120"/>
          </a:xfrm>
          <a:prstGeom prst="roundRect">
            <a:avLst>
              <a:gd name="adj" fmla="val 8000"/>
            </a:avLst>
          </a:prstGeom>
          <a:solidFill>
            <a:srgbClr val="FDF1E6"/>
          </a:solidFill>
          <a:ln w="28575">
            <a:solidFill>
              <a:srgbClr val="E07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a:solidFill>
                  <a:srgbClr val="0F1B2D"/>
                </a:solidFill>
                <a:latin typeface="Calibri"/>
              </a:rPr>
              <a:t>★ Merge gate: green checks + your OK</a:t>
            </a:r>
          </a:p>
        </p:txBody>
      </p:sp>
      <p:cxnSp>
        <p:nvCxnSpPr>
          <p:cNvPr id="10" name="Connector 9"/>
          <p:cNvCxnSpPr/>
          <p:nvPr/>
        </p:nvCxnSpPr>
        <p:spPr>
          <a:xfrm>
            <a:off x="9381744" y="2034540"/>
            <a:ext cx="201168"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582912" y="1554480"/>
            <a:ext cx="205740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a:solidFill>
                  <a:srgbClr val="0F1B2D"/>
                </a:solidFill>
                <a:latin typeface="Calibri"/>
              </a:rPr>
              <a:t>Merged into staging</a:t>
            </a:r>
          </a:p>
        </p:txBody>
      </p:sp>
      <p:sp>
        <p:nvSpPr>
          <p:cNvPr id="12" name="Rounded Rectangle 11"/>
          <p:cNvSpPr/>
          <p:nvPr/>
        </p:nvSpPr>
        <p:spPr>
          <a:xfrm>
            <a:off x="548640" y="3291840"/>
            <a:ext cx="205740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a:solidFill>
                  <a:srgbClr val="0F1B2D"/>
                </a:solidFill>
                <a:latin typeface="Calibri"/>
              </a:rPr>
              <a:t>New version starts next to the live one</a:t>
            </a:r>
          </a:p>
        </p:txBody>
      </p:sp>
      <p:cxnSp>
        <p:nvCxnSpPr>
          <p:cNvPr id="13" name="Connector 12"/>
          <p:cNvCxnSpPr/>
          <p:nvPr/>
        </p:nvCxnSpPr>
        <p:spPr>
          <a:xfrm>
            <a:off x="2606040" y="3771900"/>
            <a:ext cx="201168"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07208" y="3291840"/>
            <a:ext cx="2057400" cy="960120"/>
          </a:xfrm>
          <a:prstGeom prst="roundRect">
            <a:avLst>
              <a:gd name="adj" fmla="val 8000"/>
            </a:avLst>
          </a:prstGeom>
          <a:solidFill>
            <a:srgbClr val="FFFFFF"/>
          </a:solidFill>
          <a:ln w="25400">
            <a:solidFill>
              <a:srgbClr val="1F5A9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a:solidFill>
                  <a:srgbClr val="1F5A9E"/>
                </a:solidFill>
                <a:latin typeface="Calibri"/>
              </a:rPr>
              <a:t>Live checks pass?</a:t>
            </a:r>
          </a:p>
        </p:txBody>
      </p:sp>
      <p:cxnSp>
        <p:nvCxnSpPr>
          <p:cNvPr id="15" name="Connector 14"/>
          <p:cNvCxnSpPr/>
          <p:nvPr/>
        </p:nvCxnSpPr>
        <p:spPr>
          <a:xfrm>
            <a:off x="4864608" y="3771900"/>
            <a:ext cx="201168" cy="0"/>
          </a:xfrm>
          <a:prstGeom prst="line">
            <a:avLst/>
          </a:prstGeom>
          <a:ln w="19050">
            <a:solidFill>
              <a:srgbClr val="1F5A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65776" y="3291840"/>
            <a:ext cx="205740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a:solidFill>
                  <a:srgbClr val="0F1B2D"/>
                </a:solidFill>
                <a:latin typeface="Calibri"/>
              </a:rPr>
              <a:t>Traffic switches; standby ready</a:t>
            </a:r>
          </a:p>
        </p:txBody>
      </p:sp>
      <p:cxnSp>
        <p:nvCxnSpPr>
          <p:cNvPr id="17" name="Connector 16"/>
          <p:cNvCxnSpPr/>
          <p:nvPr/>
        </p:nvCxnSpPr>
        <p:spPr>
          <a:xfrm>
            <a:off x="7123176" y="3771900"/>
            <a:ext cx="201168"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24344" y="3291840"/>
            <a:ext cx="2057400" cy="960120"/>
          </a:xfrm>
          <a:prstGeom prst="roundRect">
            <a:avLst>
              <a:gd name="adj" fmla="val 8000"/>
            </a:avLst>
          </a:prstGeom>
          <a:solidFill>
            <a:srgbClr val="FFFFFF"/>
          </a:solidFill>
          <a:ln w="1905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a:solidFill>
                  <a:srgbClr val="0F1B2D"/>
                </a:solidFill>
                <a:latin typeface="Calibri"/>
              </a:rPr>
              <a:t>You check staging</a:t>
            </a:r>
          </a:p>
        </p:txBody>
      </p:sp>
      <p:cxnSp>
        <p:nvCxnSpPr>
          <p:cNvPr id="19" name="Connector 18"/>
          <p:cNvCxnSpPr/>
          <p:nvPr/>
        </p:nvCxnSpPr>
        <p:spPr>
          <a:xfrm>
            <a:off x="9381744" y="3771900"/>
            <a:ext cx="201168"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582912" y="3291840"/>
            <a:ext cx="2057400" cy="960120"/>
          </a:xfrm>
          <a:prstGeom prst="roundRect">
            <a:avLst>
              <a:gd name="adj" fmla="val 8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a:solidFill>
                  <a:srgbClr val="F4F1EA"/>
                </a:solidFill>
                <a:latin typeface="Calibri"/>
              </a:rPr>
              <a:t>★ Release PR: staging → main</a:t>
            </a:r>
          </a:p>
        </p:txBody>
      </p:sp>
      <p:sp>
        <p:nvSpPr>
          <p:cNvPr id="21" name="TextBox 20"/>
          <p:cNvSpPr txBox="1"/>
          <p:nvPr/>
        </p:nvSpPr>
        <p:spPr>
          <a:xfrm>
            <a:off x="4681727" y="3017520"/>
            <a:ext cx="457200" cy="256032"/>
          </a:xfrm>
          <a:prstGeom prst="rect">
            <a:avLst/>
          </a:prstGeom>
          <a:noFill/>
        </p:spPr>
        <p:txBody>
          <a:bodyPr wrap="square" anchor="t" lIns="0" rIns="0" tIns="0" bIns="0">
            <a:spAutoFit/>
          </a:bodyPr>
          <a:lstStyle/>
          <a:p>
            <a:pPr algn="l"/>
            <a:r>
              <a:rPr sz="1200" b="1">
                <a:solidFill>
                  <a:srgbClr val="1F5A9E"/>
                </a:solidFill>
                <a:latin typeface="Calibri"/>
              </a:rPr>
              <a:t>yes</a:t>
            </a:r>
          </a:p>
        </p:txBody>
      </p:sp>
      <p:cxnSp>
        <p:nvCxnSpPr>
          <p:cNvPr id="22" name="Connector 21"/>
          <p:cNvCxnSpPr/>
          <p:nvPr/>
        </p:nvCxnSpPr>
        <p:spPr>
          <a:xfrm>
            <a:off x="10611612" y="2514600"/>
            <a:ext cx="0" cy="388620"/>
          </a:xfrm>
          <a:prstGeom prst="line">
            <a:avLst/>
          </a:prstGeom>
          <a:ln w="19050">
            <a:solidFill>
              <a:srgbClr val="8A94A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1577340" y="2903220"/>
            <a:ext cx="9034272" cy="0"/>
          </a:xfrm>
          <a:prstGeom prst="line">
            <a:avLst/>
          </a:prstGeom>
          <a:ln w="19050">
            <a:solidFill>
              <a:srgbClr val="8A94A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577340" y="2903220"/>
            <a:ext cx="0" cy="38862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835908" y="4251960"/>
            <a:ext cx="0" cy="777240"/>
          </a:xfrm>
          <a:prstGeom prst="line">
            <a:avLst/>
          </a:prstGeom>
          <a:ln w="19050">
            <a:solidFill>
              <a:srgbClr val="B454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945636" y="4361688"/>
            <a:ext cx="457200" cy="274320"/>
          </a:xfrm>
          <a:prstGeom prst="rect">
            <a:avLst/>
          </a:prstGeom>
          <a:noFill/>
        </p:spPr>
        <p:txBody>
          <a:bodyPr wrap="square" anchor="t" lIns="0" rIns="0" tIns="0" bIns="0">
            <a:spAutoFit/>
          </a:bodyPr>
          <a:lstStyle/>
          <a:p>
            <a:pPr algn="l"/>
            <a:r>
              <a:rPr sz="1200" b="1">
                <a:solidFill>
                  <a:srgbClr val="B4541A"/>
                </a:solidFill>
                <a:latin typeface="Calibri"/>
              </a:rPr>
              <a:t>no</a:t>
            </a:r>
          </a:p>
        </p:txBody>
      </p:sp>
      <p:sp>
        <p:nvSpPr>
          <p:cNvPr id="27" name="Rounded Rectangle 26"/>
          <p:cNvSpPr/>
          <p:nvPr/>
        </p:nvSpPr>
        <p:spPr>
          <a:xfrm>
            <a:off x="2807208" y="5029200"/>
            <a:ext cx="4297680" cy="822960"/>
          </a:xfrm>
          <a:prstGeom prst="roundRect">
            <a:avLst>
              <a:gd name="adj" fmla="val 8000"/>
            </a:avLst>
          </a:prstGeom>
          <a:solidFill>
            <a:srgbClr val="FBEBE4"/>
          </a:solidFill>
          <a:ln w="19050">
            <a:solidFill>
              <a:srgbClr val="B4541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1">
                <a:solidFill>
                  <a:srgbClr val="8A3A12"/>
                </a:solidFill>
                <a:latin typeface="Calibri"/>
              </a:rPr>
              <a:t>Blocked: the old version keeps serving, and an alert is raised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64240" cy="822960"/>
          </a:xfrm>
          <a:prstGeom prst="rect">
            <a:avLst/>
          </a:prstGeom>
          <a:noFill/>
        </p:spPr>
        <p:txBody>
          <a:bodyPr wrap="square" anchor="t" lIns="0" rIns="0" tIns="0" bIns="0">
            <a:spAutoFit/>
          </a:bodyPr>
          <a:lstStyle/>
          <a:p>
            <a:pPr algn="l"/>
            <a:r>
              <a:rPr sz="3200" b="1">
                <a:solidFill>
                  <a:srgbClr val="0F1B2D"/>
                </a:solidFill>
                <a:latin typeface="Cambria"/>
              </a:rPr>
              <a:t>Failures raise alerts — they don’t take the site down</a:t>
            </a:r>
          </a:p>
        </p:txBody>
      </p:sp>
      <p:sp>
        <p:nvSpPr>
          <p:cNvPr id="3" name="Rounded Rectangle 2"/>
          <p:cNvSpPr/>
          <p:nvPr/>
        </p:nvSpPr>
        <p:spPr>
          <a:xfrm>
            <a:off x="548640" y="1508760"/>
            <a:ext cx="3566160" cy="260604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68680" y="1783080"/>
            <a:ext cx="548640" cy="548640"/>
          </a:xfrm>
          <a:prstGeom prst="ellipse">
            <a:avLst/>
          </a:prstGeom>
          <a:solidFill>
            <a:srgbClr val="E07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1</a:t>
            </a:r>
          </a:p>
        </p:txBody>
      </p:sp>
      <p:sp>
        <p:nvSpPr>
          <p:cNvPr id="5" name="TextBox 4"/>
          <p:cNvSpPr txBox="1"/>
          <p:nvPr/>
        </p:nvSpPr>
        <p:spPr>
          <a:xfrm>
            <a:off x="868680" y="2514600"/>
            <a:ext cx="2926080" cy="457200"/>
          </a:xfrm>
          <a:prstGeom prst="rect">
            <a:avLst/>
          </a:prstGeom>
          <a:noFill/>
        </p:spPr>
        <p:txBody>
          <a:bodyPr wrap="square" anchor="t" lIns="0" rIns="0" tIns="0" bIns="0">
            <a:spAutoFit/>
          </a:bodyPr>
          <a:lstStyle/>
          <a:p>
            <a:pPr algn="l"/>
            <a:r>
              <a:rPr sz="2100" b="1">
                <a:solidFill>
                  <a:srgbClr val="0F1B2D"/>
                </a:solidFill>
                <a:latin typeface="Cambria"/>
              </a:rPr>
              <a:t>Blue-green release</a:t>
            </a:r>
          </a:p>
        </p:txBody>
      </p:sp>
      <p:sp>
        <p:nvSpPr>
          <p:cNvPr id="6" name="TextBox 5"/>
          <p:cNvSpPr txBox="1"/>
          <p:nvPr/>
        </p:nvSpPr>
        <p:spPr>
          <a:xfrm>
            <a:off x="868680" y="3017520"/>
            <a:ext cx="2971800" cy="1645920"/>
          </a:xfrm>
          <a:prstGeom prst="rect">
            <a:avLst/>
          </a:prstGeom>
          <a:noFill/>
        </p:spPr>
        <p:txBody>
          <a:bodyPr wrap="square" anchor="t" lIns="0" rIns="0" tIns="0" bIns="0">
            <a:spAutoFit/>
          </a:bodyPr>
          <a:lstStyle/>
          <a:p>
            <a:pPr algn="l"/>
            <a:r>
              <a:rPr sz="1500" b="0">
                <a:solidFill>
                  <a:srgbClr val="4A5568"/>
                </a:solidFill>
                <a:latin typeface="Calibri"/>
              </a:rPr>
              <a:t>The new version must pass live checks before the stable address switches to it. Tested: zero failed requests during a release.</a:t>
            </a:r>
          </a:p>
        </p:txBody>
      </p:sp>
      <p:sp>
        <p:nvSpPr>
          <p:cNvPr id="7" name="Rounded Rectangle 6"/>
          <p:cNvSpPr/>
          <p:nvPr/>
        </p:nvSpPr>
        <p:spPr>
          <a:xfrm>
            <a:off x="4297679" y="1508760"/>
            <a:ext cx="3566160" cy="260604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617719" y="1783080"/>
            <a:ext cx="548640" cy="548640"/>
          </a:xfrm>
          <a:prstGeom prst="ellipse">
            <a:avLst/>
          </a:prstGeom>
          <a:solidFill>
            <a:srgbClr val="E07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2</a:t>
            </a:r>
          </a:p>
        </p:txBody>
      </p:sp>
      <p:sp>
        <p:nvSpPr>
          <p:cNvPr id="9" name="TextBox 8"/>
          <p:cNvSpPr txBox="1"/>
          <p:nvPr/>
        </p:nvSpPr>
        <p:spPr>
          <a:xfrm>
            <a:off x="4617719" y="2514600"/>
            <a:ext cx="2926080" cy="457200"/>
          </a:xfrm>
          <a:prstGeom prst="rect">
            <a:avLst/>
          </a:prstGeom>
          <a:noFill/>
        </p:spPr>
        <p:txBody>
          <a:bodyPr wrap="square" anchor="t" lIns="0" rIns="0" tIns="0" bIns="0">
            <a:spAutoFit/>
          </a:bodyPr>
          <a:lstStyle/>
          <a:p>
            <a:pPr algn="l"/>
            <a:r>
              <a:rPr sz="2100" b="1">
                <a:solidFill>
                  <a:srgbClr val="0F1B2D"/>
                </a:solidFill>
                <a:latin typeface="Cambria"/>
              </a:rPr>
              <a:t>Hot standby</a:t>
            </a:r>
          </a:p>
        </p:txBody>
      </p:sp>
      <p:sp>
        <p:nvSpPr>
          <p:cNvPr id="10" name="TextBox 9"/>
          <p:cNvSpPr txBox="1"/>
          <p:nvPr/>
        </p:nvSpPr>
        <p:spPr>
          <a:xfrm>
            <a:off x="4617719" y="3017520"/>
            <a:ext cx="2971800" cy="1645920"/>
          </a:xfrm>
          <a:prstGeom prst="rect">
            <a:avLst/>
          </a:prstGeom>
          <a:noFill/>
        </p:spPr>
        <p:txBody>
          <a:bodyPr wrap="square" anchor="t" lIns="0" rIns="0" tIns="0" bIns="0">
            <a:spAutoFit/>
          </a:bodyPr>
          <a:lstStyle/>
          <a:p>
            <a:pPr algn="l"/>
            <a:r>
              <a:rPr sz="1500" b="0">
                <a:solidFill>
                  <a:srgbClr val="4A5568"/>
                </a:solidFill>
                <a:latin typeface="Calibri"/>
              </a:rPr>
              <a:t>A second copy runs idle. If the live copy crashes, the very next request goes to the standby.</a:t>
            </a:r>
          </a:p>
        </p:txBody>
      </p:sp>
      <p:sp>
        <p:nvSpPr>
          <p:cNvPr id="11" name="Rounded Rectangle 10"/>
          <p:cNvSpPr/>
          <p:nvPr/>
        </p:nvSpPr>
        <p:spPr>
          <a:xfrm>
            <a:off x="8046719" y="1508760"/>
            <a:ext cx="3566160" cy="260604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66759" y="1783080"/>
            <a:ext cx="548640" cy="548640"/>
          </a:xfrm>
          <a:prstGeom prst="ellipse">
            <a:avLst/>
          </a:prstGeom>
          <a:solidFill>
            <a:srgbClr val="E07A2E"/>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Calibri"/>
              </a:rPr>
              <a:t>3</a:t>
            </a:r>
          </a:p>
        </p:txBody>
      </p:sp>
      <p:sp>
        <p:nvSpPr>
          <p:cNvPr id="13" name="TextBox 12"/>
          <p:cNvSpPr txBox="1"/>
          <p:nvPr/>
        </p:nvSpPr>
        <p:spPr>
          <a:xfrm>
            <a:off x="8366759" y="2514600"/>
            <a:ext cx="2926080" cy="457200"/>
          </a:xfrm>
          <a:prstGeom prst="rect">
            <a:avLst/>
          </a:prstGeom>
          <a:noFill/>
        </p:spPr>
        <p:txBody>
          <a:bodyPr wrap="square" anchor="t" lIns="0" rIns="0" tIns="0" bIns="0">
            <a:spAutoFit/>
          </a:bodyPr>
          <a:lstStyle/>
          <a:p>
            <a:pPr algn="l"/>
            <a:r>
              <a:rPr sz="2100" b="1">
                <a:solidFill>
                  <a:srgbClr val="0F1B2D"/>
                </a:solidFill>
                <a:latin typeface="Cambria"/>
              </a:rPr>
              <a:t>Watchdog</a:t>
            </a:r>
          </a:p>
        </p:txBody>
      </p:sp>
      <p:sp>
        <p:nvSpPr>
          <p:cNvPr id="14" name="TextBox 13"/>
          <p:cNvSpPr txBox="1"/>
          <p:nvPr/>
        </p:nvSpPr>
        <p:spPr>
          <a:xfrm>
            <a:off x="8366759" y="3017520"/>
            <a:ext cx="2971800" cy="1645920"/>
          </a:xfrm>
          <a:prstGeom prst="rect">
            <a:avLst/>
          </a:prstGeom>
          <a:noFill/>
        </p:spPr>
        <p:txBody>
          <a:bodyPr wrap="square" anchor="t" lIns="0" rIns="0" tIns="0" bIns="0">
            <a:spAutoFit/>
          </a:bodyPr>
          <a:lstStyle/>
          <a:p>
            <a:pPr algn="l"/>
            <a:r>
              <a:rPr sz="1500" b="0">
                <a:solidFill>
                  <a:srgbClr val="4A5568"/>
                </a:solidFill>
                <a:latin typeface="Calibri"/>
              </a:rPr>
              <a:t>Checks every 10 s and heals: standby, then rollback to the previous release, then restart.</a:t>
            </a:r>
          </a:p>
        </p:txBody>
      </p:sp>
      <p:sp>
        <p:nvSpPr>
          <p:cNvPr id="15" name="Rounded Rectangle 14"/>
          <p:cNvSpPr/>
          <p:nvPr/>
        </p:nvSpPr>
        <p:spPr>
          <a:xfrm>
            <a:off x="548640" y="4434840"/>
            <a:ext cx="11091672" cy="868680"/>
          </a:xfrm>
          <a:prstGeom prst="roundRect">
            <a:avLst>
              <a:gd name="adj" fmla="val 8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0">
                <a:solidFill>
                  <a:srgbClr val="F4F1EA"/>
                </a:solidFill>
                <a:latin typeface="Calibri"/>
              </a:rPr>
              <a:t>Every incident becomes an alert on the Monitoring &amp; Alerts page — and optionally in Slack or Teams by webhook.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64240" cy="822960"/>
          </a:xfrm>
          <a:prstGeom prst="rect">
            <a:avLst/>
          </a:prstGeom>
          <a:noFill/>
        </p:spPr>
        <p:txBody>
          <a:bodyPr wrap="square" anchor="t" lIns="0" rIns="0" tIns="0" bIns="0">
            <a:spAutoFit/>
          </a:bodyPr>
          <a:lstStyle/>
          <a:p>
            <a:pPr algn="l"/>
            <a:r>
              <a:rPr sz="3200" b="1">
                <a:solidFill>
                  <a:srgbClr val="0F1B2D"/>
                </a:solidFill>
                <a:latin typeface="Cambria"/>
              </a:rPr>
              <a:t>CI/CD on GitHub, in every generated project</a:t>
            </a:r>
          </a:p>
        </p:txBody>
      </p:sp>
      <p:sp>
        <p:nvSpPr>
          <p:cNvPr id="3" name="TextBox 2"/>
          <p:cNvSpPr txBox="1"/>
          <p:nvPr/>
        </p:nvSpPr>
        <p:spPr>
          <a:xfrm>
            <a:off x="548640" y="1325880"/>
            <a:ext cx="10972800" cy="457200"/>
          </a:xfrm>
          <a:prstGeom prst="rect">
            <a:avLst/>
          </a:prstGeom>
          <a:noFill/>
        </p:spPr>
        <p:txBody>
          <a:bodyPr wrap="square" anchor="t" lIns="0" rIns="0" tIns="0" bIns="0">
            <a:spAutoFit/>
          </a:bodyPr>
          <a:lstStyle/>
          <a:p>
            <a:pPr algn="l"/>
            <a:r>
              <a:rPr sz="1600" b="0">
                <a:solidFill>
                  <a:srgbClr val="4A5568"/>
                </a:solidFill>
                <a:latin typeface="Calibri"/>
              </a:rPr>
              <a:t>Both pipelines run on every pull request and every push to staging and main. A red check blocks the merge.</a:t>
            </a:r>
          </a:p>
        </p:txBody>
      </p:sp>
      <p:sp>
        <p:nvSpPr>
          <p:cNvPr id="4" name="Rounded Rectangle 3"/>
          <p:cNvSpPr/>
          <p:nvPr/>
        </p:nvSpPr>
        <p:spPr>
          <a:xfrm>
            <a:off x="548640" y="2011680"/>
            <a:ext cx="11091672" cy="1874519"/>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2212848"/>
            <a:ext cx="5486400" cy="411480"/>
          </a:xfrm>
          <a:prstGeom prst="rect">
            <a:avLst/>
          </a:prstGeom>
          <a:noFill/>
        </p:spPr>
        <p:txBody>
          <a:bodyPr wrap="square" anchor="t" lIns="0" rIns="0" tIns="0" bIns="0">
            <a:spAutoFit/>
          </a:bodyPr>
          <a:lstStyle/>
          <a:p>
            <a:pPr algn="l"/>
            <a:r>
              <a:rPr sz="2000" b="1">
                <a:solidFill>
                  <a:srgbClr val="B4541A"/>
                </a:solidFill>
                <a:latin typeface="Courier New"/>
              </a:rPr>
              <a:t>ci.yml</a:t>
            </a:r>
          </a:p>
        </p:txBody>
      </p:sp>
      <p:sp>
        <p:nvSpPr>
          <p:cNvPr id="6" name="Rounded Rectangle 5"/>
          <p:cNvSpPr/>
          <p:nvPr/>
        </p:nvSpPr>
        <p:spPr>
          <a:xfrm>
            <a:off x="822960" y="2788920"/>
            <a:ext cx="1642872" cy="82296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B4541A"/>
                </a:solidFill>
                <a:latin typeface="Calibri"/>
              </a:rPr>
              <a:t>1</a:t>
            </a:r>
          </a:p>
          <a:p>
            <a:pPr algn="ctr"/>
            <a:r>
              <a:rPr sz="1300" b="1">
                <a:solidFill>
                  <a:srgbClr val="0F1B2D"/>
                </a:solidFill>
                <a:latin typeface="Calibri"/>
              </a:rPr>
              <a:t>Check out</a:t>
            </a:r>
          </a:p>
        </p:txBody>
      </p:sp>
      <p:sp>
        <p:nvSpPr>
          <p:cNvPr id="7" name="Rounded Rectangle 6"/>
          <p:cNvSpPr/>
          <p:nvPr/>
        </p:nvSpPr>
        <p:spPr>
          <a:xfrm>
            <a:off x="2602992" y="2788920"/>
            <a:ext cx="1642872" cy="82296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B4541A"/>
                </a:solidFill>
                <a:latin typeface="Calibri"/>
              </a:rPr>
              <a:t>2</a:t>
            </a:r>
          </a:p>
          <a:p>
            <a:pPr algn="ctr"/>
            <a:r>
              <a:rPr sz="1300" b="1">
                <a:solidFill>
                  <a:srgbClr val="0F1B2D"/>
                </a:solidFill>
                <a:latin typeface="Calibri"/>
              </a:rPr>
              <a:t>Set up Python</a:t>
            </a:r>
          </a:p>
        </p:txBody>
      </p:sp>
      <p:sp>
        <p:nvSpPr>
          <p:cNvPr id="8" name="Rounded Rectangle 7"/>
          <p:cNvSpPr/>
          <p:nvPr/>
        </p:nvSpPr>
        <p:spPr>
          <a:xfrm>
            <a:off x="4383024" y="2788920"/>
            <a:ext cx="1642872" cy="82296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B4541A"/>
                </a:solidFill>
                <a:latin typeface="Calibri"/>
              </a:rPr>
              <a:t>3</a:t>
            </a:r>
          </a:p>
          <a:p>
            <a:pPr algn="ctr"/>
            <a:r>
              <a:rPr sz="1300" b="1">
                <a:solidFill>
                  <a:srgbClr val="0F1B2D"/>
                </a:solidFill>
                <a:latin typeface="Calibri"/>
              </a:rPr>
              <a:t>Install dependencies</a:t>
            </a:r>
          </a:p>
        </p:txBody>
      </p:sp>
      <p:sp>
        <p:nvSpPr>
          <p:cNvPr id="9" name="Rounded Rectangle 8"/>
          <p:cNvSpPr/>
          <p:nvPr/>
        </p:nvSpPr>
        <p:spPr>
          <a:xfrm>
            <a:off x="6163056" y="2788920"/>
            <a:ext cx="1642872" cy="82296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B4541A"/>
                </a:solidFill>
                <a:latin typeface="Calibri"/>
              </a:rPr>
              <a:t>4</a:t>
            </a:r>
          </a:p>
          <a:p>
            <a:pPr algn="ctr"/>
            <a:r>
              <a:rPr sz="1300" b="1">
                <a:solidFill>
                  <a:srgbClr val="0F1B2D"/>
                </a:solidFill>
                <a:latin typeface="Calibri"/>
              </a:rPr>
              <a:t>Lint</a:t>
            </a:r>
          </a:p>
        </p:txBody>
      </p:sp>
      <p:sp>
        <p:nvSpPr>
          <p:cNvPr id="10" name="Rounded Rectangle 9"/>
          <p:cNvSpPr/>
          <p:nvPr/>
        </p:nvSpPr>
        <p:spPr>
          <a:xfrm>
            <a:off x="7943087" y="2788920"/>
            <a:ext cx="1642872" cy="82296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B4541A"/>
                </a:solidFill>
                <a:latin typeface="Calibri"/>
              </a:rPr>
              <a:t>5</a:t>
            </a:r>
          </a:p>
          <a:p>
            <a:pPr algn="ctr"/>
            <a:r>
              <a:rPr sz="1300" b="1">
                <a:solidFill>
                  <a:srgbClr val="0F1B2D"/>
                </a:solidFill>
                <a:latin typeface="Calibri"/>
              </a:rPr>
              <a:t>Security scan</a:t>
            </a:r>
          </a:p>
        </p:txBody>
      </p:sp>
      <p:sp>
        <p:nvSpPr>
          <p:cNvPr id="11" name="Rounded Rectangle 10"/>
          <p:cNvSpPr/>
          <p:nvPr/>
        </p:nvSpPr>
        <p:spPr>
          <a:xfrm>
            <a:off x="9723120" y="2788920"/>
            <a:ext cx="1642872" cy="822960"/>
          </a:xfrm>
          <a:prstGeom prst="roundRect">
            <a:avLst>
              <a:gd name="adj" fmla="val 8000"/>
            </a:avLst>
          </a:prstGeom>
          <a:solidFill>
            <a:srgbClr val="FFFFFF"/>
          </a:solidFill>
          <a:ln w="15875">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B4541A"/>
                </a:solidFill>
                <a:latin typeface="Calibri"/>
              </a:rPr>
              <a:t>6</a:t>
            </a:r>
          </a:p>
          <a:p>
            <a:pPr algn="ctr"/>
            <a:r>
              <a:rPr sz="1300" b="1">
                <a:solidFill>
                  <a:srgbClr val="0F1B2D"/>
                </a:solidFill>
                <a:latin typeface="Calibri"/>
              </a:rPr>
              <a:t>Tests</a:t>
            </a:r>
          </a:p>
        </p:txBody>
      </p:sp>
      <p:sp>
        <p:nvSpPr>
          <p:cNvPr id="12" name="Rounded Rectangle 11"/>
          <p:cNvSpPr/>
          <p:nvPr/>
        </p:nvSpPr>
        <p:spPr>
          <a:xfrm>
            <a:off x="548640" y="4206240"/>
            <a:ext cx="11091672" cy="1874519"/>
          </a:xfrm>
          <a:prstGeom prst="roundRect">
            <a:avLst>
              <a:gd name="adj" fmla="val 8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4407407"/>
            <a:ext cx="5486400" cy="411480"/>
          </a:xfrm>
          <a:prstGeom prst="rect">
            <a:avLst/>
          </a:prstGeom>
          <a:noFill/>
        </p:spPr>
        <p:txBody>
          <a:bodyPr wrap="square" anchor="t" lIns="0" rIns="0" tIns="0" bIns="0">
            <a:spAutoFit/>
          </a:bodyPr>
          <a:lstStyle/>
          <a:p>
            <a:pPr algn="l"/>
            <a:r>
              <a:rPr sz="2000" b="1">
                <a:solidFill>
                  <a:srgbClr val="E07A2E"/>
                </a:solidFill>
                <a:latin typeface="Courier New"/>
              </a:rPr>
              <a:t>docker.yml</a:t>
            </a:r>
          </a:p>
        </p:txBody>
      </p:sp>
      <p:sp>
        <p:nvSpPr>
          <p:cNvPr id="14" name="Rounded Rectangle 13"/>
          <p:cNvSpPr/>
          <p:nvPr/>
        </p:nvSpPr>
        <p:spPr>
          <a:xfrm>
            <a:off x="822960" y="4983479"/>
            <a:ext cx="1388581" cy="8229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E07A2E"/>
                </a:solidFill>
                <a:latin typeface="Calibri"/>
              </a:rPr>
              <a:t>1</a:t>
            </a:r>
          </a:p>
          <a:p>
            <a:pPr algn="ctr"/>
            <a:r>
              <a:rPr sz="1300" b="1">
                <a:solidFill>
                  <a:srgbClr val="F4F1EA"/>
                </a:solidFill>
                <a:latin typeface="Calibri"/>
              </a:rPr>
              <a:t>Check out</a:t>
            </a:r>
          </a:p>
        </p:txBody>
      </p:sp>
      <p:sp>
        <p:nvSpPr>
          <p:cNvPr id="15" name="Rounded Rectangle 14"/>
          <p:cNvSpPr/>
          <p:nvPr/>
        </p:nvSpPr>
        <p:spPr>
          <a:xfrm>
            <a:off x="2348701" y="4983479"/>
            <a:ext cx="1388581" cy="8229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E07A2E"/>
                </a:solidFill>
                <a:latin typeface="Calibri"/>
              </a:rPr>
              <a:t>2</a:t>
            </a:r>
          </a:p>
          <a:p>
            <a:pPr algn="ctr"/>
            <a:r>
              <a:rPr sz="1300" b="1">
                <a:solidFill>
                  <a:srgbClr val="F4F1EA"/>
                </a:solidFill>
                <a:latin typeface="Calibri"/>
              </a:rPr>
              <a:t>Build image</a:t>
            </a:r>
          </a:p>
        </p:txBody>
      </p:sp>
      <p:sp>
        <p:nvSpPr>
          <p:cNvPr id="16" name="Rounded Rectangle 15"/>
          <p:cNvSpPr/>
          <p:nvPr/>
        </p:nvSpPr>
        <p:spPr>
          <a:xfrm>
            <a:off x="3874443" y="4983479"/>
            <a:ext cx="1388581" cy="8229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E07A2E"/>
                </a:solidFill>
                <a:latin typeface="Calibri"/>
              </a:rPr>
              <a:t>3</a:t>
            </a:r>
          </a:p>
          <a:p>
            <a:pPr algn="ctr"/>
            <a:r>
              <a:rPr sz="1300" b="1">
                <a:solidFill>
                  <a:srgbClr val="F4F1EA"/>
                </a:solidFill>
                <a:latin typeface="Calibri"/>
              </a:rPr>
              <a:t>Run container</a:t>
            </a:r>
          </a:p>
        </p:txBody>
      </p:sp>
      <p:sp>
        <p:nvSpPr>
          <p:cNvPr id="17" name="Rounded Rectangle 16"/>
          <p:cNvSpPr/>
          <p:nvPr/>
        </p:nvSpPr>
        <p:spPr>
          <a:xfrm>
            <a:off x="5400185" y="4983479"/>
            <a:ext cx="1388581" cy="8229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E07A2E"/>
                </a:solidFill>
                <a:latin typeface="Calibri"/>
              </a:rPr>
              <a:t>4</a:t>
            </a:r>
          </a:p>
          <a:p>
            <a:pPr algn="ctr"/>
            <a:r>
              <a:rPr sz="1300" b="1">
                <a:solidFill>
                  <a:srgbClr val="F4F1EA"/>
                </a:solidFill>
                <a:latin typeface="Calibri"/>
              </a:rPr>
              <a:t>Health check</a:t>
            </a:r>
          </a:p>
        </p:txBody>
      </p:sp>
      <p:sp>
        <p:nvSpPr>
          <p:cNvPr id="18" name="Rounded Rectangle 17"/>
          <p:cNvSpPr/>
          <p:nvPr/>
        </p:nvSpPr>
        <p:spPr>
          <a:xfrm>
            <a:off x="6925926" y="4983479"/>
            <a:ext cx="1388581" cy="8229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E07A2E"/>
                </a:solidFill>
                <a:latin typeface="Calibri"/>
              </a:rPr>
              <a:t>5</a:t>
            </a:r>
          </a:p>
          <a:p>
            <a:pPr algn="ctr"/>
            <a:r>
              <a:rPr sz="1300" b="1">
                <a:solidFill>
                  <a:srgbClr val="F4F1EA"/>
                </a:solidFill>
                <a:latin typeface="Calibri"/>
              </a:rPr>
              <a:t>Production checks</a:t>
            </a:r>
          </a:p>
        </p:txBody>
      </p:sp>
      <p:sp>
        <p:nvSpPr>
          <p:cNvPr id="19" name="Rounded Rectangle 18"/>
          <p:cNvSpPr/>
          <p:nvPr/>
        </p:nvSpPr>
        <p:spPr>
          <a:xfrm>
            <a:off x="8451668" y="4983479"/>
            <a:ext cx="1388581" cy="8229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E07A2E"/>
                </a:solidFill>
                <a:latin typeface="Calibri"/>
              </a:rPr>
              <a:t>6</a:t>
            </a:r>
          </a:p>
          <a:p>
            <a:pPr algn="ctr"/>
            <a:r>
              <a:rPr sz="1300" b="1">
                <a:solidFill>
                  <a:srgbClr val="F4F1EA"/>
                </a:solidFill>
                <a:latin typeface="Calibri"/>
              </a:rPr>
              <a:t>Restart + recovery</a:t>
            </a:r>
          </a:p>
        </p:txBody>
      </p:sp>
      <p:sp>
        <p:nvSpPr>
          <p:cNvPr id="20" name="Rounded Rectangle 19"/>
          <p:cNvSpPr/>
          <p:nvPr/>
        </p:nvSpPr>
        <p:spPr>
          <a:xfrm>
            <a:off x="9977410" y="4983479"/>
            <a:ext cx="1388581" cy="822960"/>
          </a:xfrm>
          <a:prstGeom prst="roundRect">
            <a:avLst>
              <a:gd name="adj" fmla="val 8000"/>
            </a:avLst>
          </a:prstGeom>
          <a:solidFill>
            <a:srgbClr val="1B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100" b="1">
                <a:solidFill>
                  <a:srgbClr val="E07A2E"/>
                </a:solidFill>
                <a:latin typeface="Calibri"/>
              </a:rPr>
              <a:t>7</a:t>
            </a:r>
          </a:p>
          <a:p>
            <a:pPr algn="ctr"/>
            <a:r>
              <a:rPr sz="1300" b="1">
                <a:solidFill>
                  <a:srgbClr val="F4F1EA"/>
                </a:solidFill>
                <a:latin typeface="Calibri"/>
              </a:rPr>
              <a:t>Container logs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64240" cy="822960"/>
          </a:xfrm>
          <a:prstGeom prst="rect">
            <a:avLst/>
          </a:prstGeom>
          <a:noFill/>
        </p:spPr>
        <p:txBody>
          <a:bodyPr wrap="square" anchor="t" lIns="0" rIns="0" tIns="0" bIns="0">
            <a:spAutoFit/>
          </a:bodyPr>
          <a:lstStyle/>
          <a:p>
            <a:pPr algn="l"/>
            <a:r>
              <a:rPr sz="3200" b="1">
                <a:solidFill>
                  <a:srgbClr val="0F1B2D"/>
                </a:solidFill>
                <a:latin typeface="Cambria"/>
              </a:rPr>
              <a:t>An empty repository gets a whole working app</a:t>
            </a:r>
          </a:p>
        </p:txBody>
      </p:sp>
      <p:sp>
        <p:nvSpPr>
          <p:cNvPr id="3" name="Rounded Rectangle 2"/>
          <p:cNvSpPr/>
          <p:nvPr/>
        </p:nvSpPr>
        <p:spPr>
          <a:xfrm>
            <a:off x="548640" y="1463040"/>
            <a:ext cx="3566160" cy="18288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68680" y="1737360"/>
            <a:ext cx="2926080" cy="457200"/>
          </a:xfrm>
          <a:prstGeom prst="rect">
            <a:avLst/>
          </a:prstGeom>
          <a:noFill/>
        </p:spPr>
        <p:txBody>
          <a:bodyPr wrap="square" anchor="t" lIns="0" rIns="0" tIns="0" bIns="0">
            <a:spAutoFit/>
          </a:bodyPr>
          <a:lstStyle/>
          <a:p>
            <a:pPr algn="l"/>
            <a:r>
              <a:rPr sz="2100" b="1">
                <a:solidFill>
                  <a:srgbClr val="0F1B2D"/>
                </a:solidFill>
                <a:latin typeface="Cambria"/>
              </a:rPr>
              <a:t>Full-stack web app</a:t>
            </a:r>
          </a:p>
        </p:txBody>
      </p:sp>
      <p:sp>
        <p:nvSpPr>
          <p:cNvPr id="5" name="TextBox 4"/>
          <p:cNvSpPr txBox="1"/>
          <p:nvPr/>
        </p:nvSpPr>
        <p:spPr>
          <a:xfrm>
            <a:off x="868680" y="2286000"/>
            <a:ext cx="2971800" cy="1463040"/>
          </a:xfrm>
          <a:prstGeom prst="rect">
            <a:avLst/>
          </a:prstGeom>
          <a:noFill/>
        </p:spPr>
        <p:txBody>
          <a:bodyPr wrap="square" anchor="t" lIns="0" rIns="0" tIns="0" bIns="0">
            <a:spAutoFit/>
          </a:bodyPr>
          <a:lstStyle/>
          <a:p>
            <a:pPr algn="l"/>
            <a:r>
              <a:rPr sz="1500" b="0">
                <a:solidFill>
                  <a:srgbClr val="4A5568"/>
                </a:solidFill>
                <a:latin typeface="Calibri"/>
              </a:rPr>
              <a:t>Dashboard, search, filters, create/edit/delete, REST API — named from your request.</a:t>
            </a:r>
          </a:p>
        </p:txBody>
      </p:sp>
      <p:sp>
        <p:nvSpPr>
          <p:cNvPr id="6" name="Rounded Rectangle 5"/>
          <p:cNvSpPr/>
          <p:nvPr/>
        </p:nvSpPr>
        <p:spPr>
          <a:xfrm>
            <a:off x="4297679" y="1463040"/>
            <a:ext cx="3566160" cy="18288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617719" y="1737360"/>
            <a:ext cx="2926080" cy="457200"/>
          </a:xfrm>
          <a:prstGeom prst="rect">
            <a:avLst/>
          </a:prstGeom>
          <a:noFill/>
        </p:spPr>
        <p:txBody>
          <a:bodyPr wrap="square" anchor="t" lIns="0" rIns="0" tIns="0" bIns="0">
            <a:spAutoFit/>
          </a:bodyPr>
          <a:lstStyle/>
          <a:p>
            <a:pPr algn="l"/>
            <a:r>
              <a:rPr sz="2100" b="1">
                <a:solidFill>
                  <a:srgbClr val="0F1B2D"/>
                </a:solidFill>
                <a:latin typeface="Cambria"/>
              </a:rPr>
              <a:t>Food delivery</a:t>
            </a:r>
          </a:p>
        </p:txBody>
      </p:sp>
      <p:sp>
        <p:nvSpPr>
          <p:cNvPr id="8" name="TextBox 7"/>
          <p:cNvSpPr txBox="1"/>
          <p:nvPr/>
        </p:nvSpPr>
        <p:spPr>
          <a:xfrm>
            <a:off x="4617719" y="2286000"/>
            <a:ext cx="2971800" cy="1463040"/>
          </a:xfrm>
          <a:prstGeom prst="rect">
            <a:avLst/>
          </a:prstGeom>
          <a:noFill/>
        </p:spPr>
        <p:txBody>
          <a:bodyPr wrap="square" anchor="t" lIns="0" rIns="0" tIns="0" bIns="0">
            <a:spAutoFit/>
          </a:bodyPr>
          <a:lstStyle/>
          <a:p>
            <a:pPr algn="l"/>
            <a:r>
              <a:rPr sz="1500" b="0">
                <a:solidFill>
                  <a:srgbClr val="4A5568"/>
                </a:solidFill>
                <a:latin typeface="Calibri"/>
              </a:rPr>
              <a:t>Restaurants, menus, cart, coupons, checkout and order tracking.</a:t>
            </a:r>
          </a:p>
        </p:txBody>
      </p:sp>
      <p:sp>
        <p:nvSpPr>
          <p:cNvPr id="9" name="Rounded Rectangle 8"/>
          <p:cNvSpPr/>
          <p:nvPr/>
        </p:nvSpPr>
        <p:spPr>
          <a:xfrm>
            <a:off x="8046719" y="1463040"/>
            <a:ext cx="3566160" cy="18288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366759" y="1737360"/>
            <a:ext cx="2926080" cy="457200"/>
          </a:xfrm>
          <a:prstGeom prst="rect">
            <a:avLst/>
          </a:prstGeom>
          <a:noFill/>
        </p:spPr>
        <p:txBody>
          <a:bodyPr wrap="square" anchor="t" lIns="0" rIns="0" tIns="0" bIns="0">
            <a:spAutoFit/>
          </a:bodyPr>
          <a:lstStyle/>
          <a:p>
            <a:pPr algn="l"/>
            <a:r>
              <a:rPr sz="2100" b="1">
                <a:solidFill>
                  <a:srgbClr val="0F1B2D"/>
                </a:solidFill>
                <a:latin typeface="Cambria"/>
              </a:rPr>
              <a:t>Sign-in</a:t>
            </a:r>
          </a:p>
        </p:txBody>
      </p:sp>
      <p:sp>
        <p:nvSpPr>
          <p:cNvPr id="11" name="TextBox 10"/>
          <p:cNvSpPr txBox="1"/>
          <p:nvPr/>
        </p:nvSpPr>
        <p:spPr>
          <a:xfrm>
            <a:off x="8366759" y="2286000"/>
            <a:ext cx="2971800" cy="1463040"/>
          </a:xfrm>
          <a:prstGeom prst="rect">
            <a:avLst/>
          </a:prstGeom>
          <a:noFill/>
        </p:spPr>
        <p:txBody>
          <a:bodyPr wrap="square" anchor="t" lIns="0" rIns="0" tIns="0" bIns="0">
            <a:spAutoFit/>
          </a:bodyPr>
          <a:lstStyle/>
          <a:p>
            <a:pPr algn="l"/>
            <a:r>
              <a:rPr sz="1500" b="0">
                <a:solidFill>
                  <a:srgbClr val="4A5568"/>
                </a:solidFill>
                <a:latin typeface="Calibri"/>
              </a:rPr>
              <a:t>Sign in, create account and a forgot-password flow with reset codes.</a:t>
            </a:r>
          </a:p>
        </p:txBody>
      </p:sp>
      <p:sp>
        <p:nvSpPr>
          <p:cNvPr id="12" name="TextBox 11"/>
          <p:cNvSpPr txBox="1"/>
          <p:nvPr/>
        </p:nvSpPr>
        <p:spPr>
          <a:xfrm>
            <a:off x="548640" y="3566160"/>
            <a:ext cx="10972800" cy="411480"/>
          </a:xfrm>
          <a:prstGeom prst="rect">
            <a:avLst/>
          </a:prstGeom>
          <a:noFill/>
        </p:spPr>
        <p:txBody>
          <a:bodyPr wrap="square" anchor="t" lIns="0" rIns="0" tIns="0" bIns="0">
            <a:spAutoFit/>
          </a:bodyPr>
          <a:lstStyle/>
          <a:p>
            <a:pPr algn="l"/>
            <a:r>
              <a:rPr sz="1700" b="0">
                <a:solidFill>
                  <a:srgbClr val="4A5568"/>
                </a:solidFill>
                <a:latin typeface="Calibri"/>
              </a:rPr>
              <a:t>Every project ships with tests, Docker, CI and a README that says where it runs.</a:t>
            </a:r>
          </a:p>
        </p:txBody>
      </p:sp>
      <p:sp>
        <p:nvSpPr>
          <p:cNvPr id="13" name="Rounded Rectangle 12"/>
          <p:cNvSpPr/>
          <p:nvPr/>
        </p:nvSpPr>
        <p:spPr>
          <a:xfrm>
            <a:off x="548640" y="4206240"/>
            <a:ext cx="11091672" cy="1188720"/>
          </a:xfrm>
          <a:prstGeom prst="roundRect">
            <a:avLst>
              <a:gd name="adj" fmla="val 8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900" b="1">
                <a:solidFill>
                  <a:srgbClr val="E07A2E"/>
                </a:solidFill>
                <a:latin typeface="Calibri"/>
              </a:rPr>
              <a:t>Add-ons — one click on staging code</a:t>
            </a:r>
          </a:p>
          <a:p>
            <a:pPr algn="l"/>
            <a:r>
              <a:rPr sz="1700" b="0">
                <a:solidFill>
                  <a:srgbClr val="F4F1EA"/>
                </a:solidFill>
                <a:latin typeface="Calibri"/>
              </a:rPr>
              <a:t>Database (data kept after restarts)  ·  Dark mode  ·  Sign-in protection (rate limiting)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02920"/>
            <a:ext cx="11064240" cy="822960"/>
          </a:xfrm>
          <a:prstGeom prst="rect">
            <a:avLst/>
          </a:prstGeom>
          <a:noFill/>
        </p:spPr>
        <p:txBody>
          <a:bodyPr wrap="square" anchor="t" lIns="0" rIns="0" tIns="0" bIns="0">
            <a:spAutoFit/>
          </a:bodyPr>
          <a:lstStyle/>
          <a:p>
            <a:pPr algn="l"/>
            <a:r>
              <a:rPr sz="3200" b="1">
                <a:solidFill>
                  <a:srgbClr val="0F1B2D"/>
                </a:solidFill>
                <a:latin typeface="Cambria"/>
              </a:rPr>
              <a:t>Found a problem on staging? Report it right there</a:t>
            </a:r>
          </a:p>
        </p:txBody>
      </p:sp>
      <p:sp>
        <p:nvSpPr>
          <p:cNvPr id="3" name="Rounded Rectangle 2"/>
          <p:cNvSpPr/>
          <p:nvPr/>
        </p:nvSpPr>
        <p:spPr>
          <a:xfrm>
            <a:off x="548640" y="1554480"/>
            <a:ext cx="2514600" cy="20574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59" y="1783080"/>
            <a:ext cx="2011680" cy="411480"/>
          </a:xfrm>
          <a:prstGeom prst="rect">
            <a:avLst/>
          </a:prstGeom>
          <a:noFill/>
        </p:spPr>
        <p:txBody>
          <a:bodyPr wrap="square" anchor="t" lIns="0" rIns="0" tIns="0" bIns="0">
            <a:spAutoFit/>
          </a:bodyPr>
          <a:lstStyle/>
          <a:p>
            <a:pPr algn="l"/>
            <a:r>
              <a:rPr sz="1600" b="1">
                <a:solidFill>
                  <a:srgbClr val="B4541A"/>
                </a:solidFill>
                <a:latin typeface="Calibri"/>
              </a:rPr>
              <a:t>1 · Describe</a:t>
            </a:r>
          </a:p>
        </p:txBody>
      </p:sp>
      <p:sp>
        <p:nvSpPr>
          <p:cNvPr id="5" name="TextBox 4"/>
          <p:cNvSpPr txBox="1"/>
          <p:nvPr/>
        </p:nvSpPr>
        <p:spPr>
          <a:xfrm>
            <a:off x="822959" y="2240280"/>
            <a:ext cx="2011680" cy="1280160"/>
          </a:xfrm>
          <a:prstGeom prst="rect">
            <a:avLst/>
          </a:prstGeom>
          <a:noFill/>
        </p:spPr>
        <p:txBody>
          <a:bodyPr wrap="square" anchor="t" lIns="0" rIns="0" tIns="0" bIns="0">
            <a:spAutoFit/>
          </a:bodyPr>
          <a:lstStyle/>
          <a:p>
            <a:pPr algn="l"/>
            <a:r>
              <a:rPr sz="1500" b="0">
                <a:solidFill>
                  <a:srgbClr val="4A5568"/>
                </a:solidFill>
                <a:latin typeface="Calibri"/>
              </a:rPr>
              <a:t>Type what is wrong and paste or drop screenshots.</a:t>
            </a:r>
          </a:p>
        </p:txBody>
      </p:sp>
      <p:cxnSp>
        <p:nvCxnSpPr>
          <p:cNvPr id="6" name="Connector 5"/>
          <p:cNvCxnSpPr/>
          <p:nvPr/>
        </p:nvCxnSpPr>
        <p:spPr>
          <a:xfrm>
            <a:off x="3063240" y="2578608"/>
            <a:ext cx="320040"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83280" y="1554480"/>
            <a:ext cx="2514600" cy="20574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657600" y="1783080"/>
            <a:ext cx="2011680" cy="411480"/>
          </a:xfrm>
          <a:prstGeom prst="rect">
            <a:avLst/>
          </a:prstGeom>
          <a:noFill/>
        </p:spPr>
        <p:txBody>
          <a:bodyPr wrap="square" anchor="t" lIns="0" rIns="0" tIns="0" bIns="0">
            <a:spAutoFit/>
          </a:bodyPr>
          <a:lstStyle/>
          <a:p>
            <a:pPr algn="l"/>
            <a:r>
              <a:rPr sz="1600" b="1">
                <a:solidFill>
                  <a:srgbClr val="B4541A"/>
                </a:solidFill>
                <a:latin typeface="Calibri"/>
              </a:rPr>
              <a:t>2 · Check staging</a:t>
            </a:r>
          </a:p>
        </p:txBody>
      </p:sp>
      <p:sp>
        <p:nvSpPr>
          <p:cNvPr id="9" name="TextBox 8"/>
          <p:cNvSpPr txBox="1"/>
          <p:nvPr/>
        </p:nvSpPr>
        <p:spPr>
          <a:xfrm>
            <a:off x="3657600" y="2240280"/>
            <a:ext cx="2011680" cy="1280160"/>
          </a:xfrm>
          <a:prstGeom prst="rect">
            <a:avLst/>
          </a:prstGeom>
          <a:noFill/>
        </p:spPr>
        <p:txBody>
          <a:bodyPr wrap="square" anchor="t" lIns="0" rIns="0" tIns="0" bIns="0">
            <a:spAutoFit/>
          </a:bodyPr>
          <a:lstStyle/>
          <a:p>
            <a:pPr algn="l"/>
            <a:r>
              <a:rPr sz="1500" b="0">
                <a:solidFill>
                  <a:srgbClr val="4A5568"/>
                </a:solidFill>
                <a:latin typeface="Calibri"/>
              </a:rPr>
              <a:t>Already there? You get the answer with evidence: endpoints, pages, files.</a:t>
            </a:r>
          </a:p>
        </p:txBody>
      </p:sp>
      <p:cxnSp>
        <p:nvCxnSpPr>
          <p:cNvPr id="10" name="Connector 9"/>
          <p:cNvCxnSpPr/>
          <p:nvPr/>
        </p:nvCxnSpPr>
        <p:spPr>
          <a:xfrm>
            <a:off x="5897880" y="2578608"/>
            <a:ext cx="320040"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7920" y="1554480"/>
            <a:ext cx="2514600" cy="205740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92240" y="1783080"/>
            <a:ext cx="2011680" cy="411480"/>
          </a:xfrm>
          <a:prstGeom prst="rect">
            <a:avLst/>
          </a:prstGeom>
          <a:noFill/>
        </p:spPr>
        <p:txBody>
          <a:bodyPr wrap="square" anchor="t" lIns="0" rIns="0" tIns="0" bIns="0">
            <a:spAutoFit/>
          </a:bodyPr>
          <a:lstStyle/>
          <a:p>
            <a:pPr algn="l"/>
            <a:r>
              <a:rPr sz="1600" b="1">
                <a:solidFill>
                  <a:srgbClr val="B4541A"/>
                </a:solidFill>
                <a:latin typeface="Calibri"/>
              </a:rPr>
              <a:t>3 · Plan the fix</a:t>
            </a:r>
          </a:p>
        </p:txBody>
      </p:sp>
      <p:sp>
        <p:nvSpPr>
          <p:cNvPr id="13" name="TextBox 12"/>
          <p:cNvSpPr txBox="1"/>
          <p:nvPr/>
        </p:nvSpPr>
        <p:spPr>
          <a:xfrm>
            <a:off x="6492240" y="2240280"/>
            <a:ext cx="2011680" cy="1280160"/>
          </a:xfrm>
          <a:prstGeom prst="rect">
            <a:avLst/>
          </a:prstGeom>
          <a:noFill/>
        </p:spPr>
        <p:txBody>
          <a:bodyPr wrap="square" anchor="t" lIns="0" rIns="0" tIns="0" bIns="0">
            <a:spAutoFit/>
          </a:bodyPr>
          <a:lstStyle/>
          <a:p>
            <a:pPr algn="l"/>
            <a:r>
              <a:rPr sz="1500" b="0">
                <a:solidFill>
                  <a:srgbClr val="4A5568"/>
                </a:solidFill>
                <a:latin typeface="Calibri"/>
              </a:rPr>
              <a:t>Otherwise a fix workflow is planned on the latest staging.</a:t>
            </a:r>
          </a:p>
        </p:txBody>
      </p:sp>
      <p:cxnSp>
        <p:nvCxnSpPr>
          <p:cNvPr id="14" name="Connector 13"/>
          <p:cNvCxnSpPr/>
          <p:nvPr/>
        </p:nvCxnSpPr>
        <p:spPr>
          <a:xfrm>
            <a:off x="8732520" y="2578608"/>
            <a:ext cx="320040" cy="0"/>
          </a:xfrm>
          <a:prstGeom prst="line">
            <a:avLst/>
          </a:prstGeom>
          <a:ln w="19050">
            <a:solidFill>
              <a:srgbClr val="8A94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052560" y="1554480"/>
            <a:ext cx="2514600" cy="2057400"/>
          </a:xfrm>
          <a:prstGeom prst="roundRect">
            <a:avLst>
              <a:gd name="adj" fmla="val 8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0" y="1783080"/>
            <a:ext cx="2011680" cy="411480"/>
          </a:xfrm>
          <a:prstGeom prst="rect">
            <a:avLst/>
          </a:prstGeom>
          <a:noFill/>
        </p:spPr>
        <p:txBody>
          <a:bodyPr wrap="square" anchor="t" lIns="0" rIns="0" tIns="0" bIns="0">
            <a:spAutoFit/>
          </a:bodyPr>
          <a:lstStyle/>
          <a:p>
            <a:pPr algn="l"/>
            <a:r>
              <a:rPr sz="1600" b="1">
                <a:solidFill>
                  <a:srgbClr val="E07A2E"/>
                </a:solidFill>
                <a:latin typeface="Calibri"/>
              </a:rPr>
              <a:t>4 · Same gates</a:t>
            </a:r>
          </a:p>
        </p:txBody>
      </p:sp>
      <p:sp>
        <p:nvSpPr>
          <p:cNvPr id="17" name="TextBox 16"/>
          <p:cNvSpPr txBox="1"/>
          <p:nvPr/>
        </p:nvSpPr>
        <p:spPr>
          <a:xfrm>
            <a:off x="9326880" y="2240280"/>
            <a:ext cx="2011680" cy="1280160"/>
          </a:xfrm>
          <a:prstGeom prst="rect">
            <a:avLst/>
          </a:prstGeom>
          <a:noFill/>
        </p:spPr>
        <p:txBody>
          <a:bodyPr wrap="square" anchor="t" lIns="0" rIns="0" tIns="0" bIns="0">
            <a:spAutoFit/>
          </a:bodyPr>
          <a:lstStyle/>
          <a:p>
            <a:pPr algn="l"/>
            <a:r>
              <a:rPr sz="1500" b="0">
                <a:solidFill>
                  <a:srgbClr val="C9D4E3"/>
                </a:solidFill>
                <a:latin typeface="Calibri"/>
              </a:rPr>
              <a:t>Approve, validate, and merge its pull request into staging.</a:t>
            </a:r>
          </a:p>
        </p:txBody>
      </p:sp>
      <p:sp>
        <p:nvSpPr>
          <p:cNvPr id="18" name="TextBox 17"/>
          <p:cNvSpPr txBox="1"/>
          <p:nvPr/>
        </p:nvSpPr>
        <p:spPr>
          <a:xfrm>
            <a:off x="548640" y="3977639"/>
            <a:ext cx="11064240" cy="1097280"/>
          </a:xfrm>
          <a:prstGeom prst="rect">
            <a:avLst/>
          </a:prstGeom>
          <a:noFill/>
        </p:spPr>
        <p:txBody>
          <a:bodyPr wrap="square" anchor="t" lIns="0" rIns="0" tIns="0" bIns="0">
            <a:spAutoFit/>
          </a:bodyPr>
          <a:lstStyle/>
          <a:p>
            <a:pPr algn="l"/>
            <a:r>
              <a:rPr sz="1600" b="0">
                <a:solidFill>
                  <a:srgbClr val="4A5568"/>
                </a:solidFill>
                <a:latin typeface="Calibri"/>
              </a:rPr>
              <a:t>Example: “there is no password reset button” rebuilt the page with the reset screens; “create the backend as well” was answered at once — the backend and its six endpoints were already on staging.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Box 1"/>
          <p:cNvSpPr txBox="1"/>
          <p:nvPr/>
        </p:nvSpPr>
        <p:spPr>
          <a:xfrm>
            <a:off x="548640" y="502920"/>
            <a:ext cx="11064240" cy="822960"/>
          </a:xfrm>
          <a:prstGeom prst="rect">
            <a:avLst/>
          </a:prstGeom>
          <a:noFill/>
        </p:spPr>
        <p:txBody>
          <a:bodyPr wrap="square" anchor="t" lIns="0" rIns="0" tIns="0" bIns="0">
            <a:spAutoFit/>
          </a:bodyPr>
          <a:lstStyle/>
          <a:p>
            <a:pPr algn="l"/>
            <a:r>
              <a:rPr sz="3200" b="1">
                <a:solidFill>
                  <a:srgbClr val="F4F1EA"/>
                </a:solidFill>
                <a:latin typeface="Cambria"/>
              </a:rPr>
              <a:t>The project in numbers</a:t>
            </a:r>
          </a:p>
        </p:txBody>
      </p:sp>
      <p:sp>
        <p:nvSpPr>
          <p:cNvPr id="3" name="TextBox 2"/>
          <p:cNvSpPr txBox="1"/>
          <p:nvPr/>
        </p:nvSpPr>
        <p:spPr>
          <a:xfrm>
            <a:off x="548640" y="1600200"/>
            <a:ext cx="3566160" cy="914400"/>
          </a:xfrm>
          <a:prstGeom prst="rect">
            <a:avLst/>
          </a:prstGeom>
          <a:noFill/>
        </p:spPr>
        <p:txBody>
          <a:bodyPr wrap="square" anchor="t" lIns="0" rIns="0" tIns="0" bIns="0">
            <a:spAutoFit/>
          </a:bodyPr>
          <a:lstStyle/>
          <a:p>
            <a:pPr algn="l"/>
            <a:r>
              <a:rPr sz="5400" b="1">
                <a:solidFill>
                  <a:srgbClr val="E07A2E"/>
                </a:solidFill>
                <a:latin typeface="Cambria"/>
              </a:rPr>
              <a:t>283</a:t>
            </a:r>
          </a:p>
        </p:txBody>
      </p:sp>
      <p:sp>
        <p:nvSpPr>
          <p:cNvPr id="4" name="TextBox 3"/>
          <p:cNvSpPr txBox="1"/>
          <p:nvPr/>
        </p:nvSpPr>
        <p:spPr>
          <a:xfrm>
            <a:off x="548640" y="2560320"/>
            <a:ext cx="3566160" cy="548640"/>
          </a:xfrm>
          <a:prstGeom prst="rect">
            <a:avLst/>
          </a:prstGeom>
          <a:noFill/>
        </p:spPr>
        <p:txBody>
          <a:bodyPr wrap="square" anchor="t" lIns="0" rIns="0" tIns="0" bIns="0">
            <a:spAutoFit/>
          </a:bodyPr>
          <a:lstStyle/>
          <a:p>
            <a:pPr algn="l"/>
            <a:r>
              <a:rPr sz="1600" b="0">
                <a:solidFill>
                  <a:srgbClr val="C9D4E3"/>
                </a:solidFill>
                <a:latin typeface="Calibri"/>
              </a:rPr>
              <a:t>backend tests, all passing</a:t>
            </a:r>
          </a:p>
        </p:txBody>
      </p:sp>
      <p:sp>
        <p:nvSpPr>
          <p:cNvPr id="5" name="TextBox 4"/>
          <p:cNvSpPr txBox="1"/>
          <p:nvPr/>
        </p:nvSpPr>
        <p:spPr>
          <a:xfrm>
            <a:off x="4297679" y="1600200"/>
            <a:ext cx="3566160" cy="914400"/>
          </a:xfrm>
          <a:prstGeom prst="rect">
            <a:avLst/>
          </a:prstGeom>
          <a:noFill/>
        </p:spPr>
        <p:txBody>
          <a:bodyPr wrap="square" anchor="t" lIns="0" rIns="0" tIns="0" bIns="0">
            <a:spAutoFit/>
          </a:bodyPr>
          <a:lstStyle/>
          <a:p>
            <a:pPr algn="l"/>
            <a:r>
              <a:rPr sz="5400" b="1">
                <a:solidFill>
                  <a:srgbClr val="E07A2E"/>
                </a:solidFill>
                <a:latin typeface="Cambria"/>
              </a:rPr>
              <a:t>18</a:t>
            </a:r>
          </a:p>
        </p:txBody>
      </p:sp>
      <p:sp>
        <p:nvSpPr>
          <p:cNvPr id="6" name="TextBox 5"/>
          <p:cNvSpPr txBox="1"/>
          <p:nvPr/>
        </p:nvSpPr>
        <p:spPr>
          <a:xfrm>
            <a:off x="4297679" y="2560320"/>
            <a:ext cx="3566160" cy="548640"/>
          </a:xfrm>
          <a:prstGeom prst="rect">
            <a:avLst/>
          </a:prstGeom>
          <a:noFill/>
        </p:spPr>
        <p:txBody>
          <a:bodyPr wrap="square" anchor="t" lIns="0" rIns="0" tIns="0" bIns="0">
            <a:spAutoFit/>
          </a:bodyPr>
          <a:lstStyle/>
          <a:p>
            <a:pPr algn="l"/>
            <a:r>
              <a:rPr sz="1600" b="0">
                <a:solidFill>
                  <a:srgbClr val="C9D4E3"/>
                </a:solidFill>
                <a:latin typeface="Calibri"/>
              </a:rPr>
              <a:t>workflow stages, 4 human approvals</a:t>
            </a:r>
          </a:p>
        </p:txBody>
      </p:sp>
      <p:sp>
        <p:nvSpPr>
          <p:cNvPr id="7" name="TextBox 6"/>
          <p:cNvSpPr txBox="1"/>
          <p:nvPr/>
        </p:nvSpPr>
        <p:spPr>
          <a:xfrm>
            <a:off x="8046719" y="1600200"/>
            <a:ext cx="3566160" cy="914400"/>
          </a:xfrm>
          <a:prstGeom prst="rect">
            <a:avLst/>
          </a:prstGeom>
          <a:noFill/>
        </p:spPr>
        <p:txBody>
          <a:bodyPr wrap="square" anchor="t" lIns="0" rIns="0" tIns="0" bIns="0">
            <a:spAutoFit/>
          </a:bodyPr>
          <a:lstStyle/>
          <a:p>
            <a:pPr algn="l"/>
            <a:r>
              <a:rPr sz="5400" b="1">
                <a:solidFill>
                  <a:srgbClr val="E07A2E"/>
                </a:solidFill>
                <a:latin typeface="Cambria"/>
              </a:rPr>
              <a:t>317</a:t>
            </a:r>
          </a:p>
        </p:txBody>
      </p:sp>
      <p:sp>
        <p:nvSpPr>
          <p:cNvPr id="8" name="TextBox 7"/>
          <p:cNvSpPr txBox="1"/>
          <p:nvPr/>
        </p:nvSpPr>
        <p:spPr>
          <a:xfrm>
            <a:off x="8046719" y="2560320"/>
            <a:ext cx="3566160" cy="548640"/>
          </a:xfrm>
          <a:prstGeom prst="rect">
            <a:avLst/>
          </a:prstGeom>
          <a:noFill/>
        </p:spPr>
        <p:txBody>
          <a:bodyPr wrap="square" anchor="t" lIns="0" rIns="0" tIns="0" bIns="0">
            <a:spAutoFit/>
          </a:bodyPr>
          <a:lstStyle/>
          <a:p>
            <a:pPr algn="l"/>
            <a:r>
              <a:rPr sz="1600" b="0">
                <a:solidFill>
                  <a:srgbClr val="C9D4E3"/>
                </a:solidFill>
                <a:latin typeface="Calibri"/>
              </a:rPr>
              <a:t>files in the repository</a:t>
            </a:r>
          </a:p>
        </p:txBody>
      </p:sp>
      <p:sp>
        <p:nvSpPr>
          <p:cNvPr id="9" name="TextBox 8"/>
          <p:cNvSpPr txBox="1"/>
          <p:nvPr/>
        </p:nvSpPr>
        <p:spPr>
          <a:xfrm>
            <a:off x="548640" y="3429000"/>
            <a:ext cx="3566160" cy="914400"/>
          </a:xfrm>
          <a:prstGeom prst="rect">
            <a:avLst/>
          </a:prstGeom>
          <a:noFill/>
        </p:spPr>
        <p:txBody>
          <a:bodyPr wrap="square" anchor="t" lIns="0" rIns="0" tIns="0" bIns="0">
            <a:spAutoFit/>
          </a:bodyPr>
          <a:lstStyle/>
          <a:p>
            <a:pPr algn="l"/>
            <a:r>
              <a:rPr sz="5400" b="1">
                <a:solidFill>
                  <a:srgbClr val="E07A2E"/>
                </a:solidFill>
                <a:latin typeface="Cambria"/>
              </a:rPr>
              <a:t>8</a:t>
            </a:r>
          </a:p>
        </p:txBody>
      </p:sp>
      <p:sp>
        <p:nvSpPr>
          <p:cNvPr id="10" name="TextBox 9"/>
          <p:cNvSpPr txBox="1"/>
          <p:nvPr/>
        </p:nvSpPr>
        <p:spPr>
          <a:xfrm>
            <a:off x="548640" y="4389120"/>
            <a:ext cx="3566160" cy="548640"/>
          </a:xfrm>
          <a:prstGeom prst="rect">
            <a:avLst/>
          </a:prstGeom>
          <a:noFill/>
        </p:spPr>
        <p:txBody>
          <a:bodyPr wrap="square" anchor="t" lIns="0" rIns="0" tIns="0" bIns="0">
            <a:spAutoFit/>
          </a:bodyPr>
          <a:lstStyle/>
          <a:p>
            <a:pPr algn="l"/>
            <a:r>
              <a:rPr sz="1600" b="0">
                <a:solidFill>
                  <a:srgbClr val="C9D4E3"/>
                </a:solidFill>
                <a:latin typeface="Calibri"/>
              </a:rPr>
              <a:t>guardrail categories</a:t>
            </a:r>
          </a:p>
        </p:txBody>
      </p:sp>
      <p:sp>
        <p:nvSpPr>
          <p:cNvPr id="11" name="TextBox 10"/>
          <p:cNvSpPr txBox="1"/>
          <p:nvPr/>
        </p:nvSpPr>
        <p:spPr>
          <a:xfrm>
            <a:off x="4297679" y="3429000"/>
            <a:ext cx="3566160" cy="914400"/>
          </a:xfrm>
          <a:prstGeom prst="rect">
            <a:avLst/>
          </a:prstGeom>
          <a:noFill/>
        </p:spPr>
        <p:txBody>
          <a:bodyPr wrap="square" anchor="t" lIns="0" rIns="0" tIns="0" bIns="0">
            <a:spAutoFit/>
          </a:bodyPr>
          <a:lstStyle/>
          <a:p>
            <a:pPr algn="l"/>
            <a:r>
              <a:rPr sz="5400" b="1">
                <a:solidFill>
                  <a:srgbClr val="E07A2E"/>
                </a:solidFill>
                <a:latin typeface="Cambria"/>
              </a:rPr>
              <a:t>6</a:t>
            </a:r>
          </a:p>
        </p:txBody>
      </p:sp>
      <p:sp>
        <p:nvSpPr>
          <p:cNvPr id="12" name="TextBox 11"/>
          <p:cNvSpPr txBox="1"/>
          <p:nvPr/>
        </p:nvSpPr>
        <p:spPr>
          <a:xfrm>
            <a:off x="4297679" y="4389120"/>
            <a:ext cx="3566160" cy="548640"/>
          </a:xfrm>
          <a:prstGeom prst="rect">
            <a:avLst/>
          </a:prstGeom>
          <a:noFill/>
        </p:spPr>
        <p:txBody>
          <a:bodyPr wrap="square" anchor="t" lIns="0" rIns="0" tIns="0" bIns="0">
            <a:spAutoFit/>
          </a:bodyPr>
          <a:lstStyle/>
          <a:p>
            <a:pPr algn="l"/>
            <a:r>
              <a:rPr sz="1600" b="0">
                <a:solidFill>
                  <a:srgbClr val="C9D4E3"/>
                </a:solidFill>
                <a:latin typeface="Calibri"/>
              </a:rPr>
              <a:t>live production checks</a:t>
            </a:r>
          </a:p>
        </p:txBody>
      </p:sp>
      <p:sp>
        <p:nvSpPr>
          <p:cNvPr id="13" name="TextBox 12"/>
          <p:cNvSpPr txBox="1"/>
          <p:nvPr/>
        </p:nvSpPr>
        <p:spPr>
          <a:xfrm>
            <a:off x="8046719" y="3429000"/>
            <a:ext cx="3566160" cy="914400"/>
          </a:xfrm>
          <a:prstGeom prst="rect">
            <a:avLst/>
          </a:prstGeom>
          <a:noFill/>
        </p:spPr>
        <p:txBody>
          <a:bodyPr wrap="square" anchor="t" lIns="0" rIns="0" tIns="0" bIns="0">
            <a:spAutoFit/>
          </a:bodyPr>
          <a:lstStyle/>
          <a:p>
            <a:pPr algn="l"/>
            <a:r>
              <a:rPr sz="5400" b="1">
                <a:solidFill>
                  <a:srgbClr val="E07A2E"/>
                </a:solidFill>
                <a:latin typeface="Cambria"/>
              </a:rPr>
              <a:t>3 + 3</a:t>
            </a:r>
          </a:p>
        </p:txBody>
      </p:sp>
      <p:sp>
        <p:nvSpPr>
          <p:cNvPr id="14" name="TextBox 13"/>
          <p:cNvSpPr txBox="1"/>
          <p:nvPr/>
        </p:nvSpPr>
        <p:spPr>
          <a:xfrm>
            <a:off x="8046719" y="4389120"/>
            <a:ext cx="3566160" cy="548640"/>
          </a:xfrm>
          <a:prstGeom prst="rect">
            <a:avLst/>
          </a:prstGeom>
          <a:noFill/>
        </p:spPr>
        <p:txBody>
          <a:bodyPr wrap="square" anchor="t" lIns="0" rIns="0" tIns="0" bIns="0">
            <a:spAutoFit/>
          </a:bodyPr>
          <a:lstStyle/>
          <a:p>
            <a:pPr algn="l"/>
            <a:r>
              <a:rPr sz="1600" b="0">
                <a:solidFill>
                  <a:srgbClr val="C9D4E3"/>
                </a:solidFill>
                <a:latin typeface="Calibri"/>
              </a:rPr>
              <a:t>app templates + add-ons</a:t>
            </a:r>
          </a:p>
        </p:txBody>
      </p:sp>
      <p:sp>
        <p:nvSpPr>
          <p:cNvPr id="15" name="TextBox 14"/>
          <p:cNvSpPr txBox="1"/>
          <p:nvPr/>
        </p:nvSpPr>
        <p:spPr>
          <a:xfrm>
            <a:off x="548640" y="5577840"/>
            <a:ext cx="11064240" cy="731520"/>
          </a:xfrm>
          <a:prstGeom prst="rect">
            <a:avLst/>
          </a:prstGeom>
          <a:noFill/>
        </p:spPr>
        <p:txBody>
          <a:bodyPr wrap="square" anchor="t" lIns="0" rIns="0" tIns="0" bIns="0">
            <a:spAutoFit/>
          </a:bodyPr>
          <a:lstStyle/>
          <a:p>
            <a:pPr algn="l"/>
            <a:r>
              <a:rPr sz="1600" b="0">
                <a:solidFill>
                  <a:srgbClr val="C9D4E3"/>
                </a:solidFill>
                <a:latin typeface="Calibri"/>
              </a:rPr>
              <a:t>Without an API key it runs in mock mode, using its templates and add-ons. With LLM_MODE=live, Claude writes any other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Intent2Deploy AI — Overview</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